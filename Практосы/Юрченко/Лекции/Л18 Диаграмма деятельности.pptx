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51" r:id="rId2"/>
  </p:sldMasterIdLst>
  <p:notesMasterIdLst>
    <p:notesMasterId r:id="rId26"/>
  </p:notesMasterIdLst>
  <p:handoutMasterIdLst>
    <p:handoutMasterId r:id="rId27"/>
  </p:handoutMasterIdLst>
  <p:sldIdLst>
    <p:sldId id="396" r:id="rId3"/>
    <p:sldId id="384" r:id="rId4"/>
    <p:sldId id="385" r:id="rId5"/>
    <p:sldId id="388" r:id="rId6"/>
    <p:sldId id="334" r:id="rId7"/>
    <p:sldId id="393" r:id="rId8"/>
    <p:sldId id="389" r:id="rId9"/>
    <p:sldId id="364" r:id="rId10"/>
    <p:sldId id="392" r:id="rId11"/>
    <p:sldId id="279" r:id="rId12"/>
    <p:sldId id="391" r:id="rId13"/>
    <p:sldId id="367" r:id="rId14"/>
    <p:sldId id="286" r:id="rId15"/>
    <p:sldId id="370" r:id="rId16"/>
    <p:sldId id="371" r:id="rId17"/>
    <p:sldId id="369" r:id="rId18"/>
    <p:sldId id="374" r:id="rId19"/>
    <p:sldId id="373" r:id="rId20"/>
    <p:sldId id="395" r:id="rId21"/>
    <p:sldId id="394" r:id="rId22"/>
    <p:sldId id="386" r:id="rId23"/>
    <p:sldId id="383" r:id="rId24"/>
    <p:sldId id="390" r:id="rId2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ergey Rassamakin" initials="SR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78"/>
    <a:srgbClr val="99CCFF"/>
    <a:srgbClr val="00FF00"/>
    <a:srgbClr val="CC99FF"/>
    <a:srgbClr val="FF99FF"/>
    <a:srgbClr val="7D96E9"/>
    <a:srgbClr val="64C896"/>
    <a:srgbClr val="B0E4BA"/>
    <a:srgbClr val="AFE3B9"/>
    <a:srgbClr val="81B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6" autoAdjust="0"/>
    <p:restoredTop sz="86058" autoAdjust="0"/>
  </p:normalViewPr>
  <p:slideViewPr>
    <p:cSldViewPr snapToGrid="0" snapToObjects="1">
      <p:cViewPr varScale="1">
        <p:scale>
          <a:sx n="99" d="100"/>
          <a:sy n="99" d="100"/>
        </p:scale>
        <p:origin x="193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7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BCC9E21-B12A-439B-9700-BD0553F62CE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Click to edit Master text styles</a:t>
            </a:r>
          </a:p>
          <a:p>
            <a:pPr lvl="1"/>
            <a:r>
              <a:rPr lang="ru-RU" noProof="0" smtClean="0"/>
              <a:t>Second level</a:t>
            </a:r>
          </a:p>
          <a:p>
            <a:pPr lvl="2"/>
            <a:r>
              <a:rPr lang="ru-RU" noProof="0" smtClean="0"/>
              <a:t>Third level</a:t>
            </a:r>
          </a:p>
          <a:p>
            <a:pPr lvl="3"/>
            <a:r>
              <a:rPr lang="ru-RU" noProof="0" smtClean="0"/>
              <a:t>Fourth level</a:t>
            </a:r>
          </a:p>
          <a:p>
            <a:pPr lvl="4"/>
            <a:r>
              <a:rPr lang="ru-RU" noProof="0" smtClean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CD84465-DEB6-4006-96D6-72CA3530D3B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D84465-DEB6-4006-96D6-72CA3530D3B6}" type="slidenum">
              <a:rPr lang="ru-RU" smtClean="0"/>
              <a:pPr>
                <a:defRPr/>
              </a:pPr>
              <a:t>4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D84465-DEB6-4006-96D6-72CA3530D3B6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ru-RU" sz="1200" kern="1200" dirty="0" smtClean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B283E6-4739-4220-BD63-BDFC7EFF6688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D84465-DEB6-4006-96D6-72CA3530D3B6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D84465-DEB6-4006-96D6-72CA3530D3B6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kern="0" dirty="0" smtClean="0">
              <a:solidFill>
                <a:srgbClr val="002B78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D84465-DEB6-4006-96D6-72CA3530D3B6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D84465-DEB6-4006-96D6-72CA3530D3B6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D84465-DEB6-4006-96D6-72CA3530D3B6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0" hangingPunct="0"/>
            <a:r>
              <a:rPr lang="ru-RU" sz="1200" kern="0" dirty="0" smtClean="0">
                <a:solidFill>
                  <a:srgbClr val="002B78"/>
                </a:solidFill>
                <a:latin typeface="Arial" charset="0"/>
                <a:ea typeface="+mn-ea"/>
                <a:cs typeface="+mn-cs"/>
              </a:rPr>
              <a:t>В качестве примера построена диаграмма деятельности по обработке заказов с тремя разбиениями, в которой также участвуют и объекты (классы «Заказ» и «Счет»). Некоторые виды деятельности будут порождать объекты-экземпляры этих классов (например, «Обработать заказ» создаст объект «Заказ»), тогда как другие виды деятельности будут модифицировать эти объекты (например, «Отгрузить заказ» может изменить состояние объекта «Заказ» на </a:t>
            </a:r>
            <a:r>
              <a:rPr lang="en-US" sz="1200" kern="0" dirty="0" smtClean="0">
                <a:solidFill>
                  <a:srgbClr val="002B78"/>
                </a:solidFill>
                <a:latin typeface="Arial" charset="0"/>
                <a:ea typeface="+mn-ea"/>
                <a:cs typeface="+mn-cs"/>
              </a:rPr>
              <a:t>“</a:t>
            </a:r>
            <a:r>
              <a:rPr lang="ru-RU" sz="1200" kern="0" dirty="0" smtClean="0">
                <a:solidFill>
                  <a:srgbClr val="002B78"/>
                </a:solidFill>
                <a:latin typeface="Arial" charset="0"/>
                <a:ea typeface="+mn-ea"/>
                <a:cs typeface="+mn-cs"/>
              </a:rPr>
              <a:t>выполнен</a:t>
            </a:r>
            <a:r>
              <a:rPr lang="en-US" sz="1200" kern="0" dirty="0" smtClean="0">
                <a:solidFill>
                  <a:srgbClr val="002B78"/>
                </a:solidFill>
                <a:latin typeface="Arial" charset="0"/>
                <a:ea typeface="+mn-ea"/>
                <a:cs typeface="+mn-cs"/>
              </a:rPr>
              <a:t>”</a:t>
            </a:r>
            <a:r>
              <a:rPr lang="ru-RU" sz="1200" kern="0" dirty="0" smtClean="0">
                <a:solidFill>
                  <a:srgbClr val="002B78"/>
                </a:solidFill>
                <a:latin typeface="Arial" charset="0"/>
                <a:ea typeface="+mn-ea"/>
                <a:cs typeface="+mn-cs"/>
              </a:rPr>
              <a:t>).</a:t>
            </a:r>
          </a:p>
          <a:p>
            <a:pPr algn="just" eaLnBrk="0" hangingPunct="0"/>
            <a:endParaRPr lang="ru-RU" sz="1200" kern="0" dirty="0" smtClean="0">
              <a:solidFill>
                <a:srgbClr val="002B78"/>
              </a:solidFill>
              <a:latin typeface="Arial" charset="0"/>
              <a:ea typeface="+mn-ea"/>
              <a:cs typeface="+mn-cs"/>
            </a:endParaRPr>
          </a:p>
          <a:p>
            <a:pPr algn="just" eaLnBrk="0" hangingPunct="0"/>
            <a:r>
              <a:rPr lang="ru-RU" sz="1200" kern="0" dirty="0" smtClean="0">
                <a:solidFill>
                  <a:srgbClr val="002B78"/>
                </a:solidFill>
                <a:latin typeface="Arial" charset="0"/>
                <a:ea typeface="+mn-ea"/>
                <a:cs typeface="+mn-cs"/>
              </a:rPr>
              <a:t>Объекты, относящиеся к деятельности, можно включить в диаграмму деятельности с помощью символа зависимости (</a:t>
            </a:r>
            <a:r>
              <a:rPr lang="en-US" sz="1200" kern="0" dirty="0" smtClean="0">
                <a:solidFill>
                  <a:srgbClr val="002B78"/>
                </a:solidFill>
                <a:latin typeface="Arial" charset="0"/>
                <a:ea typeface="+mn-ea"/>
                <a:cs typeface="+mn-cs"/>
              </a:rPr>
              <a:t>dependency</a:t>
            </a:r>
            <a:r>
              <a:rPr lang="ru-RU" sz="1200" kern="0" dirty="0" smtClean="0">
                <a:solidFill>
                  <a:srgbClr val="002B78"/>
                </a:solidFill>
                <a:latin typeface="Arial" charset="0"/>
                <a:ea typeface="+mn-ea"/>
                <a:cs typeface="+mn-cs"/>
              </a:rPr>
              <a:t>) и привязать к той деятельности или переходу, где они создаются, модифицируются или уничтожаются. Такое сочетание зависимостей и объекта называется траекторией объекта (</a:t>
            </a:r>
            <a:r>
              <a:rPr lang="ru-RU" sz="1200" kern="0" dirty="0" err="1" smtClean="0">
                <a:solidFill>
                  <a:srgbClr val="002B78"/>
                </a:solidFill>
                <a:latin typeface="Arial" charset="0"/>
                <a:ea typeface="+mn-ea"/>
                <a:cs typeface="+mn-cs"/>
              </a:rPr>
              <a:t>Object</a:t>
            </a:r>
            <a:r>
              <a:rPr lang="ru-RU" sz="1200" kern="0" dirty="0" smtClean="0">
                <a:solidFill>
                  <a:srgbClr val="002B78"/>
                </a:solidFill>
                <a:latin typeface="Arial" charset="0"/>
                <a:ea typeface="+mn-ea"/>
                <a:cs typeface="+mn-cs"/>
              </a:rPr>
              <a:t> </a:t>
            </a:r>
            <a:r>
              <a:rPr lang="ru-RU" sz="1200" kern="0" dirty="0" err="1" smtClean="0">
                <a:solidFill>
                  <a:srgbClr val="002B78"/>
                </a:solidFill>
                <a:latin typeface="Arial" charset="0"/>
                <a:ea typeface="+mn-ea"/>
                <a:cs typeface="+mn-cs"/>
              </a:rPr>
              <a:t>flow</a:t>
            </a:r>
            <a:r>
              <a:rPr lang="ru-RU" sz="1200" kern="0" dirty="0" smtClean="0">
                <a:solidFill>
                  <a:srgbClr val="002B78"/>
                </a:solidFill>
                <a:latin typeface="Arial" charset="0"/>
                <a:ea typeface="+mn-ea"/>
                <a:cs typeface="+mn-cs"/>
              </a:rPr>
              <a:t>), поскольку описывает его участие в потоке управления.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D84465-DEB6-4006-96D6-72CA3530D3B6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D84465-DEB6-4006-96D6-72CA3530D3B6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png"/><Relationship Id="rId10" Type="http://schemas.openxmlformats.org/officeDocument/2006/relationships/oleObject" Target="../embeddings/oleObject5.bin"/><Relationship Id="rId4" Type="http://schemas.openxmlformats.org/officeDocument/2006/relationships/image" Target="../media/image4.png"/><Relationship Id="rId9" Type="http://schemas.openxmlformats.org/officeDocument/2006/relationships/oleObject" Target="../embeddings/oleObject4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588" y="2590800"/>
            <a:ext cx="9142412" cy="3609975"/>
            <a:chOff x="1" y="1632"/>
            <a:chExt cx="5759" cy="2274"/>
          </a:xfrm>
        </p:grpSpPr>
        <p:pic>
          <p:nvPicPr>
            <p:cNvPr id="5" name="Object 3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" y="1632"/>
              <a:ext cx="5759" cy="2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Object 4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040" y="1632"/>
              <a:ext cx="720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Object 5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600" y="1632"/>
              <a:ext cx="720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Object 6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320" y="1632"/>
              <a:ext cx="720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38200" y="1447800"/>
            <a:ext cx="75072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076450" y="685800"/>
            <a:ext cx="53435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>
                <a:solidFill>
                  <a:srgbClr val="002C78"/>
                </a:solidFill>
              </a:rPr>
              <a:t>Delivering Excellence in Software Engineering </a:t>
            </a: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1588" y="2590800"/>
          <a:ext cx="9142412" cy="360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0" name="Photo Editor Photo" r:id="rId6" imgW="9142857" imgH="3610479" progId="">
                  <p:embed/>
                </p:oleObj>
              </mc:Choice>
              <mc:Fallback>
                <p:oleObj name="Photo Editor Photo" r:id="rId6" imgW="9142857" imgH="3610479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2590800"/>
                        <a:ext cx="9142412" cy="360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Object 3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2592388"/>
            <a:ext cx="9142413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8001000" y="2590800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1" name="Photo Editor Photo" r:id="rId8" imgW="1142857" imgH="914286" progId="">
                  <p:embed/>
                </p:oleObj>
              </mc:Choice>
              <mc:Fallback>
                <p:oleObj name="Photo Editor Photo" r:id="rId8" imgW="1142857" imgH="914286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2590800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5715000" y="2590800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2" name="Photo Editor Photo" r:id="rId9" imgW="1142857" imgH="914286" progId="">
                  <p:embed/>
                </p:oleObj>
              </mc:Choice>
              <mc:Fallback>
                <p:oleObj name="Photo Editor Photo" r:id="rId9" imgW="1142857" imgH="914286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590800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/>
        </p:nvGraphicFramePr>
        <p:xfrm>
          <a:off x="6858000" y="2590800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3" name="Photo Editor Photo" r:id="rId10" imgW="1142857" imgH="914286" progId="">
                  <p:embed/>
                </p:oleObj>
              </mc:Choice>
              <mc:Fallback>
                <p:oleObj name="Photo Editor Photo" r:id="rId10" imgW="1142857" imgH="914286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590800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9"/>
          <p:cNvSpPr>
            <a:spLocks noEditPoints="1"/>
          </p:cNvSpPr>
          <p:nvPr/>
        </p:nvSpPr>
        <p:spPr bwMode="auto">
          <a:xfrm>
            <a:off x="474663" y="677863"/>
            <a:ext cx="1436687" cy="358775"/>
          </a:xfrm>
          <a:custGeom>
            <a:avLst/>
            <a:gdLst/>
            <a:ahLst/>
            <a:cxnLst>
              <a:cxn ang="0">
                <a:pos x="1997" y="570"/>
              </a:cxn>
              <a:cxn ang="0">
                <a:pos x="0" y="377"/>
              </a:cxn>
              <a:cxn ang="0">
                <a:pos x="1660" y="25"/>
              </a:cxn>
              <a:cxn ang="0">
                <a:pos x="1651" y="108"/>
              </a:cxn>
              <a:cxn ang="0">
                <a:pos x="1679" y="92"/>
              </a:cxn>
              <a:cxn ang="0">
                <a:pos x="1639" y="583"/>
              </a:cxn>
              <a:cxn ang="0">
                <a:pos x="1848" y="94"/>
              </a:cxn>
              <a:cxn ang="0">
                <a:pos x="1867" y="109"/>
              </a:cxn>
              <a:cxn ang="0">
                <a:pos x="2001" y="75"/>
              </a:cxn>
              <a:cxn ang="0">
                <a:pos x="1966" y="13"/>
              </a:cxn>
              <a:cxn ang="0">
                <a:pos x="1876" y="5"/>
              </a:cxn>
              <a:cxn ang="0">
                <a:pos x="1811" y="31"/>
              </a:cxn>
              <a:cxn ang="0">
                <a:pos x="1755" y="2"/>
              </a:cxn>
              <a:cxn ang="0">
                <a:pos x="1667" y="19"/>
              </a:cxn>
              <a:cxn ang="0">
                <a:pos x="1268" y="19"/>
              </a:cxn>
              <a:cxn ang="0">
                <a:pos x="1217" y="61"/>
              </a:cxn>
              <a:cxn ang="0">
                <a:pos x="1187" y="233"/>
              </a:cxn>
              <a:cxn ang="0">
                <a:pos x="1337" y="96"/>
              </a:cxn>
              <a:cxn ang="0">
                <a:pos x="1367" y="98"/>
              </a:cxn>
              <a:cxn ang="0">
                <a:pos x="1356" y="211"/>
              </a:cxn>
              <a:cxn ang="0">
                <a:pos x="1240" y="285"/>
              </a:cxn>
              <a:cxn ang="0">
                <a:pos x="1165" y="383"/>
              </a:cxn>
              <a:cxn ang="0">
                <a:pos x="1159" y="556"/>
              </a:cxn>
              <a:cxn ang="0">
                <a:pos x="1228" y="589"/>
              </a:cxn>
              <a:cxn ang="0">
                <a:pos x="1314" y="577"/>
              </a:cxn>
              <a:cxn ang="0">
                <a:pos x="1498" y="121"/>
              </a:cxn>
              <a:cxn ang="0">
                <a:pos x="1477" y="36"/>
              </a:cxn>
              <a:cxn ang="0">
                <a:pos x="1368" y="0"/>
              </a:cxn>
              <a:cxn ang="0">
                <a:pos x="1323" y="493"/>
              </a:cxn>
              <a:cxn ang="0">
                <a:pos x="1289" y="498"/>
              </a:cxn>
              <a:cxn ang="0">
                <a:pos x="1295" y="369"/>
              </a:cxn>
              <a:cxn ang="0">
                <a:pos x="824" y="38"/>
              </a:cxn>
              <a:cxn ang="0">
                <a:pos x="729" y="2"/>
              </a:cxn>
              <a:cxn ang="0">
                <a:pos x="630" y="9"/>
              </a:cxn>
              <a:cxn ang="0">
                <a:pos x="567" y="50"/>
              </a:cxn>
              <a:cxn ang="0">
                <a:pos x="539" y="121"/>
              </a:cxn>
              <a:cxn ang="0">
                <a:pos x="509" y="541"/>
              </a:cxn>
              <a:cxn ang="0">
                <a:pos x="608" y="589"/>
              </a:cxn>
              <a:cxn ang="0">
                <a:pos x="743" y="568"/>
              </a:cxn>
              <a:cxn ang="0">
                <a:pos x="787" y="520"/>
              </a:cxn>
              <a:cxn ang="0">
                <a:pos x="685" y="356"/>
              </a:cxn>
              <a:cxn ang="0">
                <a:pos x="641" y="502"/>
              </a:cxn>
              <a:cxn ang="0">
                <a:pos x="627" y="479"/>
              </a:cxn>
              <a:cxn ang="0">
                <a:pos x="843" y="79"/>
              </a:cxn>
              <a:cxn ang="0">
                <a:pos x="708" y="94"/>
              </a:cxn>
              <a:cxn ang="0">
                <a:pos x="699" y="252"/>
              </a:cxn>
              <a:cxn ang="0">
                <a:pos x="687" y="92"/>
              </a:cxn>
              <a:cxn ang="0">
                <a:pos x="1068" y="0"/>
              </a:cxn>
              <a:cxn ang="0">
                <a:pos x="980" y="4"/>
              </a:cxn>
              <a:cxn ang="0">
                <a:pos x="963" y="581"/>
              </a:cxn>
              <a:cxn ang="0">
                <a:pos x="1077" y="579"/>
              </a:cxn>
              <a:cxn ang="0">
                <a:pos x="1124" y="520"/>
              </a:cxn>
              <a:cxn ang="0">
                <a:pos x="1172" y="56"/>
              </a:cxn>
              <a:cxn ang="0">
                <a:pos x="1015" y="92"/>
              </a:cxn>
              <a:cxn ang="0">
                <a:pos x="1045" y="106"/>
              </a:cxn>
              <a:cxn ang="0">
                <a:pos x="991" y="496"/>
              </a:cxn>
              <a:cxn ang="0">
                <a:pos x="959" y="495"/>
              </a:cxn>
              <a:cxn ang="0">
                <a:pos x="999" y="109"/>
              </a:cxn>
            </a:cxnLst>
            <a:rect l="0" t="0" r="r" b="b"/>
            <a:pathLst>
              <a:path w="2496" h="706">
                <a:moveTo>
                  <a:pt x="2029" y="56"/>
                </a:moveTo>
                <a:lnTo>
                  <a:pt x="2020" y="177"/>
                </a:lnTo>
                <a:lnTo>
                  <a:pt x="2349" y="314"/>
                </a:lnTo>
                <a:lnTo>
                  <a:pt x="1999" y="450"/>
                </a:lnTo>
                <a:lnTo>
                  <a:pt x="1990" y="573"/>
                </a:lnTo>
                <a:lnTo>
                  <a:pt x="1997" y="570"/>
                </a:lnTo>
                <a:lnTo>
                  <a:pt x="2496" y="373"/>
                </a:lnTo>
                <a:lnTo>
                  <a:pt x="2496" y="248"/>
                </a:lnTo>
                <a:lnTo>
                  <a:pt x="2029" y="56"/>
                </a:lnTo>
                <a:close/>
                <a:moveTo>
                  <a:pt x="506" y="56"/>
                </a:moveTo>
                <a:lnTo>
                  <a:pt x="0" y="252"/>
                </a:lnTo>
                <a:lnTo>
                  <a:pt x="0" y="377"/>
                </a:lnTo>
                <a:lnTo>
                  <a:pt x="467" y="573"/>
                </a:lnTo>
                <a:lnTo>
                  <a:pt x="476" y="450"/>
                </a:lnTo>
                <a:lnTo>
                  <a:pt x="146" y="314"/>
                </a:lnTo>
                <a:lnTo>
                  <a:pt x="497" y="177"/>
                </a:lnTo>
                <a:lnTo>
                  <a:pt x="506" y="56"/>
                </a:lnTo>
                <a:close/>
                <a:moveTo>
                  <a:pt x="1660" y="25"/>
                </a:moveTo>
                <a:lnTo>
                  <a:pt x="1662" y="4"/>
                </a:lnTo>
                <a:lnTo>
                  <a:pt x="1533" y="4"/>
                </a:lnTo>
                <a:lnTo>
                  <a:pt x="1465" y="583"/>
                </a:lnTo>
                <a:lnTo>
                  <a:pt x="1593" y="583"/>
                </a:lnTo>
                <a:lnTo>
                  <a:pt x="1649" y="119"/>
                </a:lnTo>
                <a:lnTo>
                  <a:pt x="1651" y="108"/>
                </a:lnTo>
                <a:lnTo>
                  <a:pt x="1656" y="100"/>
                </a:lnTo>
                <a:lnTo>
                  <a:pt x="1660" y="96"/>
                </a:lnTo>
                <a:lnTo>
                  <a:pt x="1663" y="94"/>
                </a:lnTo>
                <a:lnTo>
                  <a:pt x="1669" y="92"/>
                </a:lnTo>
                <a:lnTo>
                  <a:pt x="1674" y="92"/>
                </a:lnTo>
                <a:lnTo>
                  <a:pt x="1679" y="92"/>
                </a:lnTo>
                <a:lnTo>
                  <a:pt x="1683" y="94"/>
                </a:lnTo>
                <a:lnTo>
                  <a:pt x="1688" y="96"/>
                </a:lnTo>
                <a:lnTo>
                  <a:pt x="1690" y="100"/>
                </a:lnTo>
                <a:lnTo>
                  <a:pt x="1693" y="108"/>
                </a:lnTo>
                <a:lnTo>
                  <a:pt x="1695" y="119"/>
                </a:lnTo>
                <a:lnTo>
                  <a:pt x="1639" y="583"/>
                </a:lnTo>
                <a:lnTo>
                  <a:pt x="1767" y="583"/>
                </a:lnTo>
                <a:lnTo>
                  <a:pt x="1823" y="119"/>
                </a:lnTo>
                <a:lnTo>
                  <a:pt x="1825" y="109"/>
                </a:lnTo>
                <a:lnTo>
                  <a:pt x="1830" y="102"/>
                </a:lnTo>
                <a:lnTo>
                  <a:pt x="1837" y="96"/>
                </a:lnTo>
                <a:lnTo>
                  <a:pt x="1848" y="94"/>
                </a:lnTo>
                <a:lnTo>
                  <a:pt x="1853" y="96"/>
                </a:lnTo>
                <a:lnTo>
                  <a:pt x="1858" y="96"/>
                </a:lnTo>
                <a:lnTo>
                  <a:pt x="1862" y="98"/>
                </a:lnTo>
                <a:lnTo>
                  <a:pt x="1864" y="102"/>
                </a:lnTo>
                <a:lnTo>
                  <a:pt x="1866" y="104"/>
                </a:lnTo>
                <a:lnTo>
                  <a:pt x="1867" y="109"/>
                </a:lnTo>
                <a:lnTo>
                  <a:pt x="1867" y="115"/>
                </a:lnTo>
                <a:lnTo>
                  <a:pt x="1867" y="121"/>
                </a:lnTo>
                <a:lnTo>
                  <a:pt x="1813" y="583"/>
                </a:lnTo>
                <a:lnTo>
                  <a:pt x="1943" y="583"/>
                </a:lnTo>
                <a:lnTo>
                  <a:pt x="2001" y="82"/>
                </a:lnTo>
                <a:lnTo>
                  <a:pt x="2001" y="75"/>
                </a:lnTo>
                <a:lnTo>
                  <a:pt x="2001" y="65"/>
                </a:lnTo>
                <a:lnTo>
                  <a:pt x="1999" y="56"/>
                </a:lnTo>
                <a:lnTo>
                  <a:pt x="1997" y="48"/>
                </a:lnTo>
                <a:lnTo>
                  <a:pt x="1988" y="32"/>
                </a:lnTo>
                <a:lnTo>
                  <a:pt x="1978" y="23"/>
                </a:lnTo>
                <a:lnTo>
                  <a:pt x="1966" y="13"/>
                </a:lnTo>
                <a:lnTo>
                  <a:pt x="1950" y="5"/>
                </a:lnTo>
                <a:lnTo>
                  <a:pt x="1934" y="2"/>
                </a:lnTo>
                <a:lnTo>
                  <a:pt x="1918" y="0"/>
                </a:lnTo>
                <a:lnTo>
                  <a:pt x="1902" y="2"/>
                </a:lnTo>
                <a:lnTo>
                  <a:pt x="1890" y="4"/>
                </a:lnTo>
                <a:lnTo>
                  <a:pt x="1876" y="5"/>
                </a:lnTo>
                <a:lnTo>
                  <a:pt x="1864" y="9"/>
                </a:lnTo>
                <a:lnTo>
                  <a:pt x="1851" y="15"/>
                </a:lnTo>
                <a:lnTo>
                  <a:pt x="1841" y="23"/>
                </a:lnTo>
                <a:lnTo>
                  <a:pt x="1830" y="31"/>
                </a:lnTo>
                <a:lnTo>
                  <a:pt x="1820" y="40"/>
                </a:lnTo>
                <a:lnTo>
                  <a:pt x="1811" y="31"/>
                </a:lnTo>
                <a:lnTo>
                  <a:pt x="1804" y="23"/>
                </a:lnTo>
                <a:lnTo>
                  <a:pt x="1795" y="15"/>
                </a:lnTo>
                <a:lnTo>
                  <a:pt x="1785" y="9"/>
                </a:lnTo>
                <a:lnTo>
                  <a:pt x="1776" y="5"/>
                </a:lnTo>
                <a:lnTo>
                  <a:pt x="1765" y="4"/>
                </a:lnTo>
                <a:lnTo>
                  <a:pt x="1755" y="2"/>
                </a:lnTo>
                <a:lnTo>
                  <a:pt x="1743" y="0"/>
                </a:lnTo>
                <a:lnTo>
                  <a:pt x="1718" y="2"/>
                </a:lnTo>
                <a:lnTo>
                  <a:pt x="1695" y="7"/>
                </a:lnTo>
                <a:lnTo>
                  <a:pt x="1686" y="9"/>
                </a:lnTo>
                <a:lnTo>
                  <a:pt x="1676" y="13"/>
                </a:lnTo>
                <a:lnTo>
                  <a:pt x="1667" y="19"/>
                </a:lnTo>
                <a:lnTo>
                  <a:pt x="1660" y="25"/>
                </a:lnTo>
                <a:close/>
                <a:moveTo>
                  <a:pt x="1368" y="0"/>
                </a:moveTo>
                <a:lnTo>
                  <a:pt x="1331" y="2"/>
                </a:lnTo>
                <a:lnTo>
                  <a:pt x="1303" y="7"/>
                </a:lnTo>
                <a:lnTo>
                  <a:pt x="1279" y="13"/>
                </a:lnTo>
                <a:lnTo>
                  <a:pt x="1268" y="19"/>
                </a:lnTo>
                <a:lnTo>
                  <a:pt x="1258" y="25"/>
                </a:lnTo>
                <a:lnTo>
                  <a:pt x="1247" y="31"/>
                </a:lnTo>
                <a:lnTo>
                  <a:pt x="1238" y="38"/>
                </a:lnTo>
                <a:lnTo>
                  <a:pt x="1231" y="46"/>
                </a:lnTo>
                <a:lnTo>
                  <a:pt x="1224" y="54"/>
                </a:lnTo>
                <a:lnTo>
                  <a:pt x="1217" y="61"/>
                </a:lnTo>
                <a:lnTo>
                  <a:pt x="1212" y="71"/>
                </a:lnTo>
                <a:lnTo>
                  <a:pt x="1208" y="82"/>
                </a:lnTo>
                <a:lnTo>
                  <a:pt x="1205" y="94"/>
                </a:lnTo>
                <a:lnTo>
                  <a:pt x="1201" y="106"/>
                </a:lnTo>
                <a:lnTo>
                  <a:pt x="1200" y="117"/>
                </a:lnTo>
                <a:lnTo>
                  <a:pt x="1187" y="233"/>
                </a:lnTo>
                <a:lnTo>
                  <a:pt x="1312" y="233"/>
                </a:lnTo>
                <a:lnTo>
                  <a:pt x="1317" y="160"/>
                </a:lnTo>
                <a:lnTo>
                  <a:pt x="1321" y="134"/>
                </a:lnTo>
                <a:lnTo>
                  <a:pt x="1326" y="115"/>
                </a:lnTo>
                <a:lnTo>
                  <a:pt x="1331" y="104"/>
                </a:lnTo>
                <a:lnTo>
                  <a:pt x="1337" y="96"/>
                </a:lnTo>
                <a:lnTo>
                  <a:pt x="1344" y="92"/>
                </a:lnTo>
                <a:lnTo>
                  <a:pt x="1351" y="90"/>
                </a:lnTo>
                <a:lnTo>
                  <a:pt x="1356" y="90"/>
                </a:lnTo>
                <a:lnTo>
                  <a:pt x="1361" y="92"/>
                </a:lnTo>
                <a:lnTo>
                  <a:pt x="1365" y="94"/>
                </a:lnTo>
                <a:lnTo>
                  <a:pt x="1367" y="98"/>
                </a:lnTo>
                <a:lnTo>
                  <a:pt x="1368" y="102"/>
                </a:lnTo>
                <a:lnTo>
                  <a:pt x="1370" y="106"/>
                </a:lnTo>
                <a:lnTo>
                  <a:pt x="1370" y="111"/>
                </a:lnTo>
                <a:lnTo>
                  <a:pt x="1370" y="119"/>
                </a:lnTo>
                <a:lnTo>
                  <a:pt x="1360" y="204"/>
                </a:lnTo>
                <a:lnTo>
                  <a:pt x="1356" y="211"/>
                </a:lnTo>
                <a:lnTo>
                  <a:pt x="1349" y="219"/>
                </a:lnTo>
                <a:lnTo>
                  <a:pt x="1337" y="227"/>
                </a:lnTo>
                <a:lnTo>
                  <a:pt x="1321" y="237"/>
                </a:lnTo>
                <a:lnTo>
                  <a:pt x="1309" y="242"/>
                </a:lnTo>
                <a:lnTo>
                  <a:pt x="1272" y="265"/>
                </a:lnTo>
                <a:lnTo>
                  <a:pt x="1240" y="285"/>
                </a:lnTo>
                <a:lnTo>
                  <a:pt x="1215" y="300"/>
                </a:lnTo>
                <a:lnTo>
                  <a:pt x="1198" y="315"/>
                </a:lnTo>
                <a:lnTo>
                  <a:pt x="1184" y="331"/>
                </a:lnTo>
                <a:lnTo>
                  <a:pt x="1175" y="348"/>
                </a:lnTo>
                <a:lnTo>
                  <a:pt x="1168" y="366"/>
                </a:lnTo>
                <a:lnTo>
                  <a:pt x="1165" y="383"/>
                </a:lnTo>
                <a:lnTo>
                  <a:pt x="1150" y="498"/>
                </a:lnTo>
                <a:lnTo>
                  <a:pt x="1149" y="512"/>
                </a:lnTo>
                <a:lnTo>
                  <a:pt x="1149" y="523"/>
                </a:lnTo>
                <a:lnTo>
                  <a:pt x="1152" y="535"/>
                </a:lnTo>
                <a:lnTo>
                  <a:pt x="1154" y="546"/>
                </a:lnTo>
                <a:lnTo>
                  <a:pt x="1159" y="556"/>
                </a:lnTo>
                <a:lnTo>
                  <a:pt x="1166" y="566"/>
                </a:lnTo>
                <a:lnTo>
                  <a:pt x="1175" y="573"/>
                </a:lnTo>
                <a:lnTo>
                  <a:pt x="1186" y="579"/>
                </a:lnTo>
                <a:lnTo>
                  <a:pt x="1198" y="583"/>
                </a:lnTo>
                <a:lnTo>
                  <a:pt x="1212" y="587"/>
                </a:lnTo>
                <a:lnTo>
                  <a:pt x="1228" y="589"/>
                </a:lnTo>
                <a:lnTo>
                  <a:pt x="1245" y="589"/>
                </a:lnTo>
                <a:lnTo>
                  <a:pt x="1265" y="589"/>
                </a:lnTo>
                <a:lnTo>
                  <a:pt x="1281" y="587"/>
                </a:lnTo>
                <a:lnTo>
                  <a:pt x="1295" y="585"/>
                </a:lnTo>
                <a:lnTo>
                  <a:pt x="1307" y="581"/>
                </a:lnTo>
                <a:lnTo>
                  <a:pt x="1314" y="577"/>
                </a:lnTo>
                <a:lnTo>
                  <a:pt x="1321" y="573"/>
                </a:lnTo>
                <a:lnTo>
                  <a:pt x="1328" y="568"/>
                </a:lnTo>
                <a:lnTo>
                  <a:pt x="1331" y="560"/>
                </a:lnTo>
                <a:lnTo>
                  <a:pt x="1330" y="583"/>
                </a:lnTo>
                <a:lnTo>
                  <a:pt x="1446" y="583"/>
                </a:lnTo>
                <a:lnTo>
                  <a:pt x="1498" y="121"/>
                </a:lnTo>
                <a:lnTo>
                  <a:pt x="1500" y="106"/>
                </a:lnTo>
                <a:lnTo>
                  <a:pt x="1500" y="90"/>
                </a:lnTo>
                <a:lnTo>
                  <a:pt x="1497" y="77"/>
                </a:lnTo>
                <a:lnTo>
                  <a:pt x="1495" y="63"/>
                </a:lnTo>
                <a:lnTo>
                  <a:pt x="1488" y="48"/>
                </a:lnTo>
                <a:lnTo>
                  <a:pt x="1477" y="36"/>
                </a:lnTo>
                <a:lnTo>
                  <a:pt x="1465" y="25"/>
                </a:lnTo>
                <a:lnTo>
                  <a:pt x="1451" y="17"/>
                </a:lnTo>
                <a:lnTo>
                  <a:pt x="1435" y="9"/>
                </a:lnTo>
                <a:lnTo>
                  <a:pt x="1414" y="4"/>
                </a:lnTo>
                <a:lnTo>
                  <a:pt x="1393" y="2"/>
                </a:lnTo>
                <a:lnTo>
                  <a:pt x="1368" y="0"/>
                </a:lnTo>
                <a:close/>
                <a:moveTo>
                  <a:pt x="1317" y="337"/>
                </a:moveTo>
                <a:lnTo>
                  <a:pt x="1330" y="331"/>
                </a:lnTo>
                <a:lnTo>
                  <a:pt x="1346" y="325"/>
                </a:lnTo>
                <a:lnTo>
                  <a:pt x="1328" y="473"/>
                </a:lnTo>
                <a:lnTo>
                  <a:pt x="1326" y="485"/>
                </a:lnTo>
                <a:lnTo>
                  <a:pt x="1323" y="493"/>
                </a:lnTo>
                <a:lnTo>
                  <a:pt x="1317" y="498"/>
                </a:lnTo>
                <a:lnTo>
                  <a:pt x="1310" y="500"/>
                </a:lnTo>
                <a:lnTo>
                  <a:pt x="1303" y="502"/>
                </a:lnTo>
                <a:lnTo>
                  <a:pt x="1298" y="500"/>
                </a:lnTo>
                <a:lnTo>
                  <a:pt x="1293" y="500"/>
                </a:lnTo>
                <a:lnTo>
                  <a:pt x="1289" y="498"/>
                </a:lnTo>
                <a:lnTo>
                  <a:pt x="1288" y="495"/>
                </a:lnTo>
                <a:lnTo>
                  <a:pt x="1284" y="491"/>
                </a:lnTo>
                <a:lnTo>
                  <a:pt x="1284" y="487"/>
                </a:lnTo>
                <a:lnTo>
                  <a:pt x="1282" y="481"/>
                </a:lnTo>
                <a:lnTo>
                  <a:pt x="1282" y="473"/>
                </a:lnTo>
                <a:lnTo>
                  <a:pt x="1295" y="369"/>
                </a:lnTo>
                <a:lnTo>
                  <a:pt x="1298" y="360"/>
                </a:lnTo>
                <a:lnTo>
                  <a:pt x="1302" y="350"/>
                </a:lnTo>
                <a:lnTo>
                  <a:pt x="1309" y="344"/>
                </a:lnTo>
                <a:lnTo>
                  <a:pt x="1317" y="337"/>
                </a:lnTo>
                <a:close/>
                <a:moveTo>
                  <a:pt x="833" y="50"/>
                </a:moveTo>
                <a:lnTo>
                  <a:pt x="824" y="38"/>
                </a:lnTo>
                <a:lnTo>
                  <a:pt x="813" y="29"/>
                </a:lnTo>
                <a:lnTo>
                  <a:pt x="801" y="19"/>
                </a:lnTo>
                <a:lnTo>
                  <a:pt x="787" y="13"/>
                </a:lnTo>
                <a:lnTo>
                  <a:pt x="769" y="7"/>
                </a:lnTo>
                <a:lnTo>
                  <a:pt x="750" y="4"/>
                </a:lnTo>
                <a:lnTo>
                  <a:pt x="729" y="2"/>
                </a:lnTo>
                <a:lnTo>
                  <a:pt x="704" y="0"/>
                </a:lnTo>
                <a:lnTo>
                  <a:pt x="690" y="0"/>
                </a:lnTo>
                <a:lnTo>
                  <a:pt x="674" y="2"/>
                </a:lnTo>
                <a:lnTo>
                  <a:pt x="659" y="4"/>
                </a:lnTo>
                <a:lnTo>
                  <a:pt x="643" y="7"/>
                </a:lnTo>
                <a:lnTo>
                  <a:pt x="630" y="9"/>
                </a:lnTo>
                <a:lnTo>
                  <a:pt x="616" y="15"/>
                </a:lnTo>
                <a:lnTo>
                  <a:pt x="606" y="21"/>
                </a:lnTo>
                <a:lnTo>
                  <a:pt x="594" y="27"/>
                </a:lnTo>
                <a:lnTo>
                  <a:pt x="585" y="34"/>
                </a:lnTo>
                <a:lnTo>
                  <a:pt x="576" y="42"/>
                </a:lnTo>
                <a:lnTo>
                  <a:pt x="567" y="50"/>
                </a:lnTo>
                <a:lnTo>
                  <a:pt x="560" y="59"/>
                </a:lnTo>
                <a:lnTo>
                  <a:pt x="555" y="71"/>
                </a:lnTo>
                <a:lnTo>
                  <a:pt x="550" y="82"/>
                </a:lnTo>
                <a:lnTo>
                  <a:pt x="544" y="94"/>
                </a:lnTo>
                <a:lnTo>
                  <a:pt x="543" y="108"/>
                </a:lnTo>
                <a:lnTo>
                  <a:pt x="539" y="121"/>
                </a:lnTo>
                <a:lnTo>
                  <a:pt x="499" y="469"/>
                </a:lnTo>
                <a:lnTo>
                  <a:pt x="497" y="483"/>
                </a:lnTo>
                <a:lnTo>
                  <a:pt x="497" y="498"/>
                </a:lnTo>
                <a:lnTo>
                  <a:pt x="499" y="512"/>
                </a:lnTo>
                <a:lnTo>
                  <a:pt x="502" y="525"/>
                </a:lnTo>
                <a:lnTo>
                  <a:pt x="509" y="541"/>
                </a:lnTo>
                <a:lnTo>
                  <a:pt x="518" y="554"/>
                </a:lnTo>
                <a:lnTo>
                  <a:pt x="530" y="564"/>
                </a:lnTo>
                <a:lnTo>
                  <a:pt x="546" y="573"/>
                </a:lnTo>
                <a:lnTo>
                  <a:pt x="564" y="581"/>
                </a:lnTo>
                <a:lnTo>
                  <a:pt x="585" y="585"/>
                </a:lnTo>
                <a:lnTo>
                  <a:pt x="608" y="589"/>
                </a:lnTo>
                <a:lnTo>
                  <a:pt x="634" y="589"/>
                </a:lnTo>
                <a:lnTo>
                  <a:pt x="666" y="589"/>
                </a:lnTo>
                <a:lnTo>
                  <a:pt x="694" y="585"/>
                </a:lnTo>
                <a:lnTo>
                  <a:pt x="720" y="577"/>
                </a:lnTo>
                <a:lnTo>
                  <a:pt x="732" y="573"/>
                </a:lnTo>
                <a:lnTo>
                  <a:pt x="743" y="568"/>
                </a:lnTo>
                <a:lnTo>
                  <a:pt x="752" y="560"/>
                </a:lnTo>
                <a:lnTo>
                  <a:pt x="760" y="554"/>
                </a:lnTo>
                <a:lnTo>
                  <a:pt x="769" y="546"/>
                </a:lnTo>
                <a:lnTo>
                  <a:pt x="776" y="539"/>
                </a:lnTo>
                <a:lnTo>
                  <a:pt x="782" y="529"/>
                </a:lnTo>
                <a:lnTo>
                  <a:pt x="787" y="520"/>
                </a:lnTo>
                <a:lnTo>
                  <a:pt x="792" y="508"/>
                </a:lnTo>
                <a:lnTo>
                  <a:pt x="796" y="498"/>
                </a:lnTo>
                <a:lnTo>
                  <a:pt x="799" y="485"/>
                </a:lnTo>
                <a:lnTo>
                  <a:pt x="801" y="473"/>
                </a:lnTo>
                <a:lnTo>
                  <a:pt x="815" y="356"/>
                </a:lnTo>
                <a:lnTo>
                  <a:pt x="685" y="356"/>
                </a:lnTo>
                <a:lnTo>
                  <a:pt x="671" y="479"/>
                </a:lnTo>
                <a:lnTo>
                  <a:pt x="667" y="489"/>
                </a:lnTo>
                <a:lnTo>
                  <a:pt x="662" y="496"/>
                </a:lnTo>
                <a:lnTo>
                  <a:pt x="655" y="500"/>
                </a:lnTo>
                <a:lnTo>
                  <a:pt x="646" y="502"/>
                </a:lnTo>
                <a:lnTo>
                  <a:pt x="641" y="502"/>
                </a:lnTo>
                <a:lnTo>
                  <a:pt x="636" y="500"/>
                </a:lnTo>
                <a:lnTo>
                  <a:pt x="632" y="498"/>
                </a:lnTo>
                <a:lnTo>
                  <a:pt x="630" y="495"/>
                </a:lnTo>
                <a:lnTo>
                  <a:pt x="629" y="491"/>
                </a:lnTo>
                <a:lnTo>
                  <a:pt x="627" y="485"/>
                </a:lnTo>
                <a:lnTo>
                  <a:pt x="627" y="479"/>
                </a:lnTo>
                <a:lnTo>
                  <a:pt x="627" y="473"/>
                </a:lnTo>
                <a:lnTo>
                  <a:pt x="643" y="337"/>
                </a:lnTo>
                <a:lnTo>
                  <a:pt x="817" y="337"/>
                </a:lnTo>
                <a:lnTo>
                  <a:pt x="843" y="117"/>
                </a:lnTo>
                <a:lnTo>
                  <a:pt x="845" y="98"/>
                </a:lnTo>
                <a:lnTo>
                  <a:pt x="843" y="79"/>
                </a:lnTo>
                <a:lnTo>
                  <a:pt x="840" y="63"/>
                </a:lnTo>
                <a:lnTo>
                  <a:pt x="833" y="50"/>
                </a:lnTo>
                <a:close/>
                <a:moveTo>
                  <a:pt x="695" y="90"/>
                </a:moveTo>
                <a:lnTo>
                  <a:pt x="701" y="90"/>
                </a:lnTo>
                <a:lnTo>
                  <a:pt x="704" y="92"/>
                </a:lnTo>
                <a:lnTo>
                  <a:pt x="708" y="94"/>
                </a:lnTo>
                <a:lnTo>
                  <a:pt x="711" y="98"/>
                </a:lnTo>
                <a:lnTo>
                  <a:pt x="713" y="102"/>
                </a:lnTo>
                <a:lnTo>
                  <a:pt x="713" y="106"/>
                </a:lnTo>
                <a:lnTo>
                  <a:pt x="715" y="111"/>
                </a:lnTo>
                <a:lnTo>
                  <a:pt x="713" y="119"/>
                </a:lnTo>
                <a:lnTo>
                  <a:pt x="699" y="252"/>
                </a:lnTo>
                <a:lnTo>
                  <a:pt x="653" y="252"/>
                </a:lnTo>
                <a:lnTo>
                  <a:pt x="669" y="119"/>
                </a:lnTo>
                <a:lnTo>
                  <a:pt x="671" y="108"/>
                </a:lnTo>
                <a:lnTo>
                  <a:pt x="674" y="100"/>
                </a:lnTo>
                <a:lnTo>
                  <a:pt x="680" y="94"/>
                </a:lnTo>
                <a:lnTo>
                  <a:pt x="687" y="92"/>
                </a:lnTo>
                <a:lnTo>
                  <a:pt x="695" y="90"/>
                </a:lnTo>
                <a:close/>
                <a:moveTo>
                  <a:pt x="1147" y="25"/>
                </a:moveTo>
                <a:lnTo>
                  <a:pt x="1128" y="13"/>
                </a:lnTo>
                <a:lnTo>
                  <a:pt x="1108" y="7"/>
                </a:lnTo>
                <a:lnTo>
                  <a:pt x="1089" y="2"/>
                </a:lnTo>
                <a:lnTo>
                  <a:pt x="1068" y="0"/>
                </a:lnTo>
                <a:lnTo>
                  <a:pt x="1052" y="2"/>
                </a:lnTo>
                <a:lnTo>
                  <a:pt x="1038" y="4"/>
                </a:lnTo>
                <a:lnTo>
                  <a:pt x="1024" y="7"/>
                </a:lnTo>
                <a:lnTo>
                  <a:pt x="1012" y="13"/>
                </a:lnTo>
                <a:lnTo>
                  <a:pt x="989" y="29"/>
                </a:lnTo>
                <a:lnTo>
                  <a:pt x="980" y="4"/>
                </a:lnTo>
                <a:lnTo>
                  <a:pt x="883" y="4"/>
                </a:lnTo>
                <a:lnTo>
                  <a:pt x="799" y="706"/>
                </a:lnTo>
                <a:lnTo>
                  <a:pt x="929" y="706"/>
                </a:lnTo>
                <a:lnTo>
                  <a:pt x="945" y="570"/>
                </a:lnTo>
                <a:lnTo>
                  <a:pt x="954" y="575"/>
                </a:lnTo>
                <a:lnTo>
                  <a:pt x="963" y="581"/>
                </a:lnTo>
                <a:lnTo>
                  <a:pt x="975" y="585"/>
                </a:lnTo>
                <a:lnTo>
                  <a:pt x="987" y="587"/>
                </a:lnTo>
                <a:lnTo>
                  <a:pt x="1024" y="589"/>
                </a:lnTo>
                <a:lnTo>
                  <a:pt x="1043" y="589"/>
                </a:lnTo>
                <a:lnTo>
                  <a:pt x="1061" y="585"/>
                </a:lnTo>
                <a:lnTo>
                  <a:pt x="1077" y="579"/>
                </a:lnTo>
                <a:lnTo>
                  <a:pt x="1093" y="570"/>
                </a:lnTo>
                <a:lnTo>
                  <a:pt x="1107" y="556"/>
                </a:lnTo>
                <a:lnTo>
                  <a:pt x="1115" y="543"/>
                </a:lnTo>
                <a:lnTo>
                  <a:pt x="1119" y="535"/>
                </a:lnTo>
                <a:lnTo>
                  <a:pt x="1122" y="527"/>
                </a:lnTo>
                <a:lnTo>
                  <a:pt x="1124" y="520"/>
                </a:lnTo>
                <a:lnTo>
                  <a:pt x="1126" y="510"/>
                </a:lnTo>
                <a:lnTo>
                  <a:pt x="1175" y="94"/>
                </a:lnTo>
                <a:lnTo>
                  <a:pt x="1177" y="84"/>
                </a:lnTo>
                <a:lnTo>
                  <a:pt x="1175" y="75"/>
                </a:lnTo>
                <a:lnTo>
                  <a:pt x="1175" y="65"/>
                </a:lnTo>
                <a:lnTo>
                  <a:pt x="1172" y="56"/>
                </a:lnTo>
                <a:lnTo>
                  <a:pt x="1168" y="48"/>
                </a:lnTo>
                <a:lnTo>
                  <a:pt x="1163" y="38"/>
                </a:lnTo>
                <a:lnTo>
                  <a:pt x="1156" y="32"/>
                </a:lnTo>
                <a:lnTo>
                  <a:pt x="1147" y="25"/>
                </a:lnTo>
                <a:close/>
                <a:moveTo>
                  <a:pt x="1008" y="94"/>
                </a:moveTo>
                <a:lnTo>
                  <a:pt x="1015" y="92"/>
                </a:lnTo>
                <a:lnTo>
                  <a:pt x="1024" y="90"/>
                </a:lnTo>
                <a:lnTo>
                  <a:pt x="1031" y="90"/>
                </a:lnTo>
                <a:lnTo>
                  <a:pt x="1035" y="92"/>
                </a:lnTo>
                <a:lnTo>
                  <a:pt x="1038" y="94"/>
                </a:lnTo>
                <a:lnTo>
                  <a:pt x="1042" y="96"/>
                </a:lnTo>
                <a:lnTo>
                  <a:pt x="1045" y="106"/>
                </a:lnTo>
                <a:lnTo>
                  <a:pt x="1045" y="117"/>
                </a:lnTo>
                <a:lnTo>
                  <a:pt x="1001" y="473"/>
                </a:lnTo>
                <a:lnTo>
                  <a:pt x="999" y="481"/>
                </a:lnTo>
                <a:lnTo>
                  <a:pt x="998" y="487"/>
                </a:lnTo>
                <a:lnTo>
                  <a:pt x="994" y="493"/>
                </a:lnTo>
                <a:lnTo>
                  <a:pt x="991" y="496"/>
                </a:lnTo>
                <a:lnTo>
                  <a:pt x="985" y="500"/>
                </a:lnTo>
                <a:lnTo>
                  <a:pt x="977" y="502"/>
                </a:lnTo>
                <a:lnTo>
                  <a:pt x="971" y="500"/>
                </a:lnTo>
                <a:lnTo>
                  <a:pt x="966" y="500"/>
                </a:lnTo>
                <a:lnTo>
                  <a:pt x="963" y="498"/>
                </a:lnTo>
                <a:lnTo>
                  <a:pt x="959" y="495"/>
                </a:lnTo>
                <a:lnTo>
                  <a:pt x="957" y="491"/>
                </a:lnTo>
                <a:lnTo>
                  <a:pt x="955" y="487"/>
                </a:lnTo>
                <a:lnTo>
                  <a:pt x="955" y="481"/>
                </a:lnTo>
                <a:lnTo>
                  <a:pt x="957" y="475"/>
                </a:lnTo>
                <a:lnTo>
                  <a:pt x="999" y="117"/>
                </a:lnTo>
                <a:lnTo>
                  <a:pt x="999" y="109"/>
                </a:lnTo>
                <a:lnTo>
                  <a:pt x="1001" y="104"/>
                </a:lnTo>
                <a:lnTo>
                  <a:pt x="1005" y="98"/>
                </a:lnTo>
                <a:lnTo>
                  <a:pt x="1008" y="94"/>
                </a:lnTo>
                <a:close/>
              </a:path>
            </a:pathLst>
          </a:custGeom>
          <a:gradFill rotWithShape="1">
            <a:gsLst>
              <a:gs pos="0">
                <a:srgbClr val="002C78"/>
              </a:gs>
              <a:gs pos="100000">
                <a:srgbClr val="002C78">
                  <a:gamma/>
                  <a:tint val="83922"/>
                  <a:invGamma/>
                </a:srgb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eaLnBrk="0" hangingPunct="0">
              <a:defRPr/>
            </a:pPr>
            <a:endParaRPr lang="en-US"/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368300" y="6540500"/>
            <a:ext cx="2451100" cy="488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800">
                <a:solidFill>
                  <a:srgbClr val="AEAEAE"/>
                </a:solidFill>
                <a:latin typeface="Verdana" pitchFamily="34" charset="0"/>
              </a:rPr>
              <a:t>® 2008. EPAM Systems. All rights reserved.</a:t>
            </a:r>
          </a:p>
          <a:p>
            <a:pPr>
              <a:defRPr/>
            </a:pPr>
            <a:endParaRPr lang="en-US">
              <a:latin typeface="Verdana" pitchFamily="34" charset="0"/>
            </a:endParaRPr>
          </a:p>
        </p:txBody>
      </p:sp>
      <p:sp>
        <p:nvSpPr>
          <p:cNvPr id="6155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474663" y="3559175"/>
            <a:ext cx="8032750" cy="989013"/>
          </a:xfrm>
          <a:ln w="9525"/>
        </p:spPr>
        <p:txBody>
          <a:bodyPr/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474663" y="4664075"/>
            <a:ext cx="7339012" cy="792163"/>
          </a:xfrm>
        </p:spPr>
        <p:txBody>
          <a:bodyPr/>
          <a:lstStyle>
            <a:lvl1pPr marL="0" indent="0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8B2DF-DB3D-4FC6-B48B-86DBC6513ED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7E930E-4B88-4BFD-8E69-952DE548B3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3075" y="1042988"/>
            <a:ext cx="4030663" cy="5135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138" y="1042988"/>
            <a:ext cx="4030662" cy="5135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953FB-4254-4E06-BD60-0312EBE9401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B68A38-8C63-4845-9C85-DE5B6AC39CC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123D54-35BC-420E-8087-21E4FB965AF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40AAD5-C0DD-4196-AC64-7FC8C81656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6BC17-A22C-477B-B0B0-9F2A04523C9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67E6F-ABEB-48B7-BEFA-917ECF301D1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50AA68-D8F5-4CDD-A8B0-F50F6004FEA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157163"/>
            <a:ext cx="2060575" cy="60213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57163"/>
            <a:ext cx="6030912" cy="60213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EAFBA6-CE67-4BA2-B04C-40B8CFB1D39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C57568-1A15-471F-B458-2C6FD47C66F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62099-ECAD-4ADB-ACB2-04634E186BA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E24E34-E4D1-4958-88FB-477E72F6EAA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0" y="1042988"/>
            <a:ext cx="3314700" cy="5135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2100" y="1042988"/>
            <a:ext cx="3314700" cy="5135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75019-C5B5-4E6A-99B9-3E66B8048BE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3D7B5-A90C-4314-B700-6CCC122BA4E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842F0A-AC02-468B-9099-A5DE294992B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45EB7-561D-4698-86AD-5B8D0F46267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FF3D8-9351-481A-9EA7-7CB671CC5D6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EB8A12-5E6E-46FA-8B9A-29D537B7B20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FF308-6902-4483-B170-B394F969EE2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5000" y="157163"/>
            <a:ext cx="1701800" cy="60213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74838" y="157163"/>
            <a:ext cx="4957762" cy="60213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5F085D-DF6A-45A2-B57F-846B70B08C4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88" y="0"/>
          <a:ext cx="91424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Photo Editor Photo" r:id="rId14" imgW="9142857" imgH="743054" progId="">
                  <p:embed/>
                </p:oleObj>
              </mc:Choice>
              <mc:Fallback>
                <p:oleObj name="Photo Editor Photo" r:id="rId14" imgW="9142857" imgH="743054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0"/>
                        <a:ext cx="914241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57163"/>
            <a:ext cx="8226425" cy="3937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add title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461963" y="6451600"/>
            <a:ext cx="2357437" cy="166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r>
              <a:rPr lang="en-US" sz="800">
                <a:solidFill>
                  <a:srgbClr val="AEAEAE"/>
                </a:solidFill>
                <a:latin typeface="Verdana" pitchFamily="34" charset="0"/>
              </a:rPr>
              <a:t>® 2008. EPAM Systems. All rights reserved.</a:t>
            </a:r>
            <a:endParaRPr lang="en-US">
              <a:latin typeface="Verdana" pitchFamily="34" charset="0"/>
            </a:endParaRP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011238" y="1690688"/>
            <a:ext cx="184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endParaRPr lang="en-US">
              <a:latin typeface="Arial" charset="0"/>
            </a:endParaRP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838200" y="1447800"/>
            <a:ext cx="75072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 typeface="Verdana" pitchFamily="34" charset="0"/>
              <a:buNone/>
              <a:defRPr/>
            </a:pPr>
            <a:endParaRPr lang="en-US" b="1">
              <a:solidFill>
                <a:srgbClr val="002B78"/>
              </a:solidFill>
            </a:endParaRPr>
          </a:p>
        </p:txBody>
      </p:sp>
      <p:sp>
        <p:nvSpPr>
          <p:cNvPr id="103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3075" y="1042988"/>
            <a:ext cx="8213725" cy="513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add text</a:t>
            </a:r>
          </a:p>
        </p:txBody>
      </p:sp>
      <p:sp>
        <p:nvSpPr>
          <p:cNvPr id="5128" name="Freeform 8"/>
          <p:cNvSpPr>
            <a:spLocks noEditPoints="1"/>
          </p:cNvSpPr>
          <p:nvPr/>
        </p:nvSpPr>
        <p:spPr bwMode="auto">
          <a:xfrm>
            <a:off x="7688263" y="6410325"/>
            <a:ext cx="990600" cy="247650"/>
          </a:xfrm>
          <a:custGeom>
            <a:avLst/>
            <a:gdLst/>
            <a:ahLst/>
            <a:cxnLst>
              <a:cxn ang="0">
                <a:pos x="1997" y="570"/>
              </a:cxn>
              <a:cxn ang="0">
                <a:pos x="0" y="377"/>
              </a:cxn>
              <a:cxn ang="0">
                <a:pos x="1660" y="25"/>
              </a:cxn>
              <a:cxn ang="0">
                <a:pos x="1651" y="108"/>
              </a:cxn>
              <a:cxn ang="0">
                <a:pos x="1679" y="92"/>
              </a:cxn>
              <a:cxn ang="0">
                <a:pos x="1639" y="583"/>
              </a:cxn>
              <a:cxn ang="0">
                <a:pos x="1848" y="94"/>
              </a:cxn>
              <a:cxn ang="0">
                <a:pos x="1867" y="109"/>
              </a:cxn>
              <a:cxn ang="0">
                <a:pos x="2001" y="75"/>
              </a:cxn>
              <a:cxn ang="0">
                <a:pos x="1966" y="13"/>
              </a:cxn>
              <a:cxn ang="0">
                <a:pos x="1876" y="5"/>
              </a:cxn>
              <a:cxn ang="0">
                <a:pos x="1811" y="31"/>
              </a:cxn>
              <a:cxn ang="0">
                <a:pos x="1755" y="2"/>
              </a:cxn>
              <a:cxn ang="0">
                <a:pos x="1667" y="19"/>
              </a:cxn>
              <a:cxn ang="0">
                <a:pos x="1268" y="19"/>
              </a:cxn>
              <a:cxn ang="0">
                <a:pos x="1217" y="61"/>
              </a:cxn>
              <a:cxn ang="0">
                <a:pos x="1187" y="233"/>
              </a:cxn>
              <a:cxn ang="0">
                <a:pos x="1337" y="96"/>
              </a:cxn>
              <a:cxn ang="0">
                <a:pos x="1367" y="98"/>
              </a:cxn>
              <a:cxn ang="0">
                <a:pos x="1356" y="211"/>
              </a:cxn>
              <a:cxn ang="0">
                <a:pos x="1240" y="285"/>
              </a:cxn>
              <a:cxn ang="0">
                <a:pos x="1165" y="383"/>
              </a:cxn>
              <a:cxn ang="0">
                <a:pos x="1159" y="556"/>
              </a:cxn>
              <a:cxn ang="0">
                <a:pos x="1228" y="589"/>
              </a:cxn>
              <a:cxn ang="0">
                <a:pos x="1314" y="577"/>
              </a:cxn>
              <a:cxn ang="0">
                <a:pos x="1498" y="121"/>
              </a:cxn>
              <a:cxn ang="0">
                <a:pos x="1477" y="36"/>
              </a:cxn>
              <a:cxn ang="0">
                <a:pos x="1368" y="0"/>
              </a:cxn>
              <a:cxn ang="0">
                <a:pos x="1323" y="493"/>
              </a:cxn>
              <a:cxn ang="0">
                <a:pos x="1289" y="498"/>
              </a:cxn>
              <a:cxn ang="0">
                <a:pos x="1295" y="369"/>
              </a:cxn>
              <a:cxn ang="0">
                <a:pos x="824" y="38"/>
              </a:cxn>
              <a:cxn ang="0">
                <a:pos x="729" y="2"/>
              </a:cxn>
              <a:cxn ang="0">
                <a:pos x="630" y="9"/>
              </a:cxn>
              <a:cxn ang="0">
                <a:pos x="567" y="50"/>
              </a:cxn>
              <a:cxn ang="0">
                <a:pos x="539" y="121"/>
              </a:cxn>
              <a:cxn ang="0">
                <a:pos x="509" y="541"/>
              </a:cxn>
              <a:cxn ang="0">
                <a:pos x="608" y="589"/>
              </a:cxn>
              <a:cxn ang="0">
                <a:pos x="743" y="568"/>
              </a:cxn>
              <a:cxn ang="0">
                <a:pos x="787" y="520"/>
              </a:cxn>
              <a:cxn ang="0">
                <a:pos x="685" y="356"/>
              </a:cxn>
              <a:cxn ang="0">
                <a:pos x="641" y="502"/>
              </a:cxn>
              <a:cxn ang="0">
                <a:pos x="627" y="479"/>
              </a:cxn>
              <a:cxn ang="0">
                <a:pos x="843" y="79"/>
              </a:cxn>
              <a:cxn ang="0">
                <a:pos x="708" y="94"/>
              </a:cxn>
              <a:cxn ang="0">
                <a:pos x="699" y="252"/>
              </a:cxn>
              <a:cxn ang="0">
                <a:pos x="687" y="92"/>
              </a:cxn>
              <a:cxn ang="0">
                <a:pos x="1068" y="0"/>
              </a:cxn>
              <a:cxn ang="0">
                <a:pos x="980" y="4"/>
              </a:cxn>
              <a:cxn ang="0">
                <a:pos x="963" y="581"/>
              </a:cxn>
              <a:cxn ang="0">
                <a:pos x="1077" y="579"/>
              </a:cxn>
              <a:cxn ang="0">
                <a:pos x="1124" y="520"/>
              </a:cxn>
              <a:cxn ang="0">
                <a:pos x="1172" y="56"/>
              </a:cxn>
              <a:cxn ang="0">
                <a:pos x="1015" y="92"/>
              </a:cxn>
              <a:cxn ang="0">
                <a:pos x="1045" y="106"/>
              </a:cxn>
              <a:cxn ang="0">
                <a:pos x="991" y="496"/>
              </a:cxn>
              <a:cxn ang="0">
                <a:pos x="959" y="495"/>
              </a:cxn>
              <a:cxn ang="0">
                <a:pos x="999" y="109"/>
              </a:cxn>
            </a:cxnLst>
            <a:rect l="0" t="0" r="r" b="b"/>
            <a:pathLst>
              <a:path w="2496" h="706">
                <a:moveTo>
                  <a:pt x="2029" y="56"/>
                </a:moveTo>
                <a:lnTo>
                  <a:pt x="2020" y="177"/>
                </a:lnTo>
                <a:lnTo>
                  <a:pt x="2349" y="314"/>
                </a:lnTo>
                <a:lnTo>
                  <a:pt x="1999" y="450"/>
                </a:lnTo>
                <a:lnTo>
                  <a:pt x="1990" y="573"/>
                </a:lnTo>
                <a:lnTo>
                  <a:pt x="1997" y="570"/>
                </a:lnTo>
                <a:lnTo>
                  <a:pt x="2496" y="373"/>
                </a:lnTo>
                <a:lnTo>
                  <a:pt x="2496" y="248"/>
                </a:lnTo>
                <a:lnTo>
                  <a:pt x="2029" y="56"/>
                </a:lnTo>
                <a:close/>
                <a:moveTo>
                  <a:pt x="506" y="56"/>
                </a:moveTo>
                <a:lnTo>
                  <a:pt x="0" y="252"/>
                </a:lnTo>
                <a:lnTo>
                  <a:pt x="0" y="377"/>
                </a:lnTo>
                <a:lnTo>
                  <a:pt x="467" y="573"/>
                </a:lnTo>
                <a:lnTo>
                  <a:pt x="476" y="450"/>
                </a:lnTo>
                <a:lnTo>
                  <a:pt x="146" y="314"/>
                </a:lnTo>
                <a:lnTo>
                  <a:pt x="497" y="177"/>
                </a:lnTo>
                <a:lnTo>
                  <a:pt x="506" y="56"/>
                </a:lnTo>
                <a:close/>
                <a:moveTo>
                  <a:pt x="1660" y="25"/>
                </a:moveTo>
                <a:lnTo>
                  <a:pt x="1662" y="4"/>
                </a:lnTo>
                <a:lnTo>
                  <a:pt x="1533" y="4"/>
                </a:lnTo>
                <a:lnTo>
                  <a:pt x="1465" y="583"/>
                </a:lnTo>
                <a:lnTo>
                  <a:pt x="1593" y="583"/>
                </a:lnTo>
                <a:lnTo>
                  <a:pt x="1649" y="119"/>
                </a:lnTo>
                <a:lnTo>
                  <a:pt x="1651" y="108"/>
                </a:lnTo>
                <a:lnTo>
                  <a:pt x="1656" y="100"/>
                </a:lnTo>
                <a:lnTo>
                  <a:pt x="1660" y="96"/>
                </a:lnTo>
                <a:lnTo>
                  <a:pt x="1663" y="94"/>
                </a:lnTo>
                <a:lnTo>
                  <a:pt x="1669" y="92"/>
                </a:lnTo>
                <a:lnTo>
                  <a:pt x="1674" y="92"/>
                </a:lnTo>
                <a:lnTo>
                  <a:pt x="1679" y="92"/>
                </a:lnTo>
                <a:lnTo>
                  <a:pt x="1683" y="94"/>
                </a:lnTo>
                <a:lnTo>
                  <a:pt x="1688" y="96"/>
                </a:lnTo>
                <a:lnTo>
                  <a:pt x="1690" y="100"/>
                </a:lnTo>
                <a:lnTo>
                  <a:pt x="1693" y="108"/>
                </a:lnTo>
                <a:lnTo>
                  <a:pt x="1695" y="119"/>
                </a:lnTo>
                <a:lnTo>
                  <a:pt x="1639" y="583"/>
                </a:lnTo>
                <a:lnTo>
                  <a:pt x="1767" y="583"/>
                </a:lnTo>
                <a:lnTo>
                  <a:pt x="1823" y="119"/>
                </a:lnTo>
                <a:lnTo>
                  <a:pt x="1825" y="109"/>
                </a:lnTo>
                <a:lnTo>
                  <a:pt x="1830" y="102"/>
                </a:lnTo>
                <a:lnTo>
                  <a:pt x="1837" y="96"/>
                </a:lnTo>
                <a:lnTo>
                  <a:pt x="1848" y="94"/>
                </a:lnTo>
                <a:lnTo>
                  <a:pt x="1853" y="96"/>
                </a:lnTo>
                <a:lnTo>
                  <a:pt x="1858" y="96"/>
                </a:lnTo>
                <a:lnTo>
                  <a:pt x="1862" y="98"/>
                </a:lnTo>
                <a:lnTo>
                  <a:pt x="1864" y="102"/>
                </a:lnTo>
                <a:lnTo>
                  <a:pt x="1866" y="104"/>
                </a:lnTo>
                <a:lnTo>
                  <a:pt x="1867" y="109"/>
                </a:lnTo>
                <a:lnTo>
                  <a:pt x="1867" y="115"/>
                </a:lnTo>
                <a:lnTo>
                  <a:pt x="1867" y="121"/>
                </a:lnTo>
                <a:lnTo>
                  <a:pt x="1813" y="583"/>
                </a:lnTo>
                <a:lnTo>
                  <a:pt x="1943" y="583"/>
                </a:lnTo>
                <a:lnTo>
                  <a:pt x="2001" y="82"/>
                </a:lnTo>
                <a:lnTo>
                  <a:pt x="2001" y="75"/>
                </a:lnTo>
                <a:lnTo>
                  <a:pt x="2001" y="65"/>
                </a:lnTo>
                <a:lnTo>
                  <a:pt x="1999" y="56"/>
                </a:lnTo>
                <a:lnTo>
                  <a:pt x="1997" y="48"/>
                </a:lnTo>
                <a:lnTo>
                  <a:pt x="1988" y="32"/>
                </a:lnTo>
                <a:lnTo>
                  <a:pt x="1978" y="23"/>
                </a:lnTo>
                <a:lnTo>
                  <a:pt x="1966" y="13"/>
                </a:lnTo>
                <a:lnTo>
                  <a:pt x="1950" y="5"/>
                </a:lnTo>
                <a:lnTo>
                  <a:pt x="1934" y="2"/>
                </a:lnTo>
                <a:lnTo>
                  <a:pt x="1918" y="0"/>
                </a:lnTo>
                <a:lnTo>
                  <a:pt x="1902" y="2"/>
                </a:lnTo>
                <a:lnTo>
                  <a:pt x="1890" y="4"/>
                </a:lnTo>
                <a:lnTo>
                  <a:pt x="1876" y="5"/>
                </a:lnTo>
                <a:lnTo>
                  <a:pt x="1864" y="9"/>
                </a:lnTo>
                <a:lnTo>
                  <a:pt x="1851" y="15"/>
                </a:lnTo>
                <a:lnTo>
                  <a:pt x="1841" y="23"/>
                </a:lnTo>
                <a:lnTo>
                  <a:pt x="1830" y="31"/>
                </a:lnTo>
                <a:lnTo>
                  <a:pt x="1820" y="40"/>
                </a:lnTo>
                <a:lnTo>
                  <a:pt x="1811" y="31"/>
                </a:lnTo>
                <a:lnTo>
                  <a:pt x="1804" y="23"/>
                </a:lnTo>
                <a:lnTo>
                  <a:pt x="1795" y="15"/>
                </a:lnTo>
                <a:lnTo>
                  <a:pt x="1785" y="9"/>
                </a:lnTo>
                <a:lnTo>
                  <a:pt x="1776" y="5"/>
                </a:lnTo>
                <a:lnTo>
                  <a:pt x="1765" y="4"/>
                </a:lnTo>
                <a:lnTo>
                  <a:pt x="1755" y="2"/>
                </a:lnTo>
                <a:lnTo>
                  <a:pt x="1743" y="0"/>
                </a:lnTo>
                <a:lnTo>
                  <a:pt x="1718" y="2"/>
                </a:lnTo>
                <a:lnTo>
                  <a:pt x="1695" y="7"/>
                </a:lnTo>
                <a:lnTo>
                  <a:pt x="1686" y="9"/>
                </a:lnTo>
                <a:lnTo>
                  <a:pt x="1676" y="13"/>
                </a:lnTo>
                <a:lnTo>
                  <a:pt x="1667" y="19"/>
                </a:lnTo>
                <a:lnTo>
                  <a:pt x="1660" y="25"/>
                </a:lnTo>
                <a:close/>
                <a:moveTo>
                  <a:pt x="1368" y="0"/>
                </a:moveTo>
                <a:lnTo>
                  <a:pt x="1331" y="2"/>
                </a:lnTo>
                <a:lnTo>
                  <a:pt x="1303" y="7"/>
                </a:lnTo>
                <a:lnTo>
                  <a:pt x="1279" y="13"/>
                </a:lnTo>
                <a:lnTo>
                  <a:pt x="1268" y="19"/>
                </a:lnTo>
                <a:lnTo>
                  <a:pt x="1258" y="25"/>
                </a:lnTo>
                <a:lnTo>
                  <a:pt x="1247" y="31"/>
                </a:lnTo>
                <a:lnTo>
                  <a:pt x="1238" y="38"/>
                </a:lnTo>
                <a:lnTo>
                  <a:pt x="1231" y="46"/>
                </a:lnTo>
                <a:lnTo>
                  <a:pt x="1224" y="54"/>
                </a:lnTo>
                <a:lnTo>
                  <a:pt x="1217" y="61"/>
                </a:lnTo>
                <a:lnTo>
                  <a:pt x="1212" y="71"/>
                </a:lnTo>
                <a:lnTo>
                  <a:pt x="1208" y="82"/>
                </a:lnTo>
                <a:lnTo>
                  <a:pt x="1205" y="94"/>
                </a:lnTo>
                <a:lnTo>
                  <a:pt x="1201" y="106"/>
                </a:lnTo>
                <a:lnTo>
                  <a:pt x="1200" y="117"/>
                </a:lnTo>
                <a:lnTo>
                  <a:pt x="1187" y="233"/>
                </a:lnTo>
                <a:lnTo>
                  <a:pt x="1312" y="233"/>
                </a:lnTo>
                <a:lnTo>
                  <a:pt x="1317" y="160"/>
                </a:lnTo>
                <a:lnTo>
                  <a:pt x="1321" y="134"/>
                </a:lnTo>
                <a:lnTo>
                  <a:pt x="1326" y="115"/>
                </a:lnTo>
                <a:lnTo>
                  <a:pt x="1331" y="104"/>
                </a:lnTo>
                <a:lnTo>
                  <a:pt x="1337" y="96"/>
                </a:lnTo>
                <a:lnTo>
                  <a:pt x="1344" y="92"/>
                </a:lnTo>
                <a:lnTo>
                  <a:pt x="1351" y="90"/>
                </a:lnTo>
                <a:lnTo>
                  <a:pt x="1356" y="90"/>
                </a:lnTo>
                <a:lnTo>
                  <a:pt x="1361" y="92"/>
                </a:lnTo>
                <a:lnTo>
                  <a:pt x="1365" y="94"/>
                </a:lnTo>
                <a:lnTo>
                  <a:pt x="1367" y="98"/>
                </a:lnTo>
                <a:lnTo>
                  <a:pt x="1368" y="102"/>
                </a:lnTo>
                <a:lnTo>
                  <a:pt x="1370" y="106"/>
                </a:lnTo>
                <a:lnTo>
                  <a:pt x="1370" y="111"/>
                </a:lnTo>
                <a:lnTo>
                  <a:pt x="1370" y="119"/>
                </a:lnTo>
                <a:lnTo>
                  <a:pt x="1360" y="204"/>
                </a:lnTo>
                <a:lnTo>
                  <a:pt x="1356" y="211"/>
                </a:lnTo>
                <a:lnTo>
                  <a:pt x="1349" y="219"/>
                </a:lnTo>
                <a:lnTo>
                  <a:pt x="1337" y="227"/>
                </a:lnTo>
                <a:lnTo>
                  <a:pt x="1321" y="237"/>
                </a:lnTo>
                <a:lnTo>
                  <a:pt x="1309" y="242"/>
                </a:lnTo>
                <a:lnTo>
                  <a:pt x="1272" y="265"/>
                </a:lnTo>
                <a:lnTo>
                  <a:pt x="1240" y="285"/>
                </a:lnTo>
                <a:lnTo>
                  <a:pt x="1215" y="300"/>
                </a:lnTo>
                <a:lnTo>
                  <a:pt x="1198" y="315"/>
                </a:lnTo>
                <a:lnTo>
                  <a:pt x="1184" y="331"/>
                </a:lnTo>
                <a:lnTo>
                  <a:pt x="1175" y="348"/>
                </a:lnTo>
                <a:lnTo>
                  <a:pt x="1168" y="366"/>
                </a:lnTo>
                <a:lnTo>
                  <a:pt x="1165" y="383"/>
                </a:lnTo>
                <a:lnTo>
                  <a:pt x="1150" y="498"/>
                </a:lnTo>
                <a:lnTo>
                  <a:pt x="1149" y="512"/>
                </a:lnTo>
                <a:lnTo>
                  <a:pt x="1149" y="523"/>
                </a:lnTo>
                <a:lnTo>
                  <a:pt x="1152" y="535"/>
                </a:lnTo>
                <a:lnTo>
                  <a:pt x="1154" y="546"/>
                </a:lnTo>
                <a:lnTo>
                  <a:pt x="1159" y="556"/>
                </a:lnTo>
                <a:lnTo>
                  <a:pt x="1166" y="566"/>
                </a:lnTo>
                <a:lnTo>
                  <a:pt x="1175" y="573"/>
                </a:lnTo>
                <a:lnTo>
                  <a:pt x="1186" y="579"/>
                </a:lnTo>
                <a:lnTo>
                  <a:pt x="1198" y="583"/>
                </a:lnTo>
                <a:lnTo>
                  <a:pt x="1212" y="587"/>
                </a:lnTo>
                <a:lnTo>
                  <a:pt x="1228" y="589"/>
                </a:lnTo>
                <a:lnTo>
                  <a:pt x="1245" y="589"/>
                </a:lnTo>
                <a:lnTo>
                  <a:pt x="1265" y="589"/>
                </a:lnTo>
                <a:lnTo>
                  <a:pt x="1281" y="587"/>
                </a:lnTo>
                <a:lnTo>
                  <a:pt x="1295" y="585"/>
                </a:lnTo>
                <a:lnTo>
                  <a:pt x="1307" y="581"/>
                </a:lnTo>
                <a:lnTo>
                  <a:pt x="1314" y="577"/>
                </a:lnTo>
                <a:lnTo>
                  <a:pt x="1321" y="573"/>
                </a:lnTo>
                <a:lnTo>
                  <a:pt x="1328" y="568"/>
                </a:lnTo>
                <a:lnTo>
                  <a:pt x="1331" y="560"/>
                </a:lnTo>
                <a:lnTo>
                  <a:pt x="1330" y="583"/>
                </a:lnTo>
                <a:lnTo>
                  <a:pt x="1446" y="583"/>
                </a:lnTo>
                <a:lnTo>
                  <a:pt x="1498" y="121"/>
                </a:lnTo>
                <a:lnTo>
                  <a:pt x="1500" y="106"/>
                </a:lnTo>
                <a:lnTo>
                  <a:pt x="1500" y="90"/>
                </a:lnTo>
                <a:lnTo>
                  <a:pt x="1497" y="77"/>
                </a:lnTo>
                <a:lnTo>
                  <a:pt x="1495" y="63"/>
                </a:lnTo>
                <a:lnTo>
                  <a:pt x="1488" y="48"/>
                </a:lnTo>
                <a:lnTo>
                  <a:pt x="1477" y="36"/>
                </a:lnTo>
                <a:lnTo>
                  <a:pt x="1465" y="25"/>
                </a:lnTo>
                <a:lnTo>
                  <a:pt x="1451" y="17"/>
                </a:lnTo>
                <a:lnTo>
                  <a:pt x="1435" y="9"/>
                </a:lnTo>
                <a:lnTo>
                  <a:pt x="1414" y="4"/>
                </a:lnTo>
                <a:lnTo>
                  <a:pt x="1393" y="2"/>
                </a:lnTo>
                <a:lnTo>
                  <a:pt x="1368" y="0"/>
                </a:lnTo>
                <a:close/>
                <a:moveTo>
                  <a:pt x="1317" y="337"/>
                </a:moveTo>
                <a:lnTo>
                  <a:pt x="1330" y="331"/>
                </a:lnTo>
                <a:lnTo>
                  <a:pt x="1346" y="325"/>
                </a:lnTo>
                <a:lnTo>
                  <a:pt x="1328" y="473"/>
                </a:lnTo>
                <a:lnTo>
                  <a:pt x="1326" y="485"/>
                </a:lnTo>
                <a:lnTo>
                  <a:pt x="1323" y="493"/>
                </a:lnTo>
                <a:lnTo>
                  <a:pt x="1317" y="498"/>
                </a:lnTo>
                <a:lnTo>
                  <a:pt x="1310" y="500"/>
                </a:lnTo>
                <a:lnTo>
                  <a:pt x="1303" y="502"/>
                </a:lnTo>
                <a:lnTo>
                  <a:pt x="1298" y="500"/>
                </a:lnTo>
                <a:lnTo>
                  <a:pt x="1293" y="500"/>
                </a:lnTo>
                <a:lnTo>
                  <a:pt x="1289" y="498"/>
                </a:lnTo>
                <a:lnTo>
                  <a:pt x="1288" y="495"/>
                </a:lnTo>
                <a:lnTo>
                  <a:pt x="1284" y="491"/>
                </a:lnTo>
                <a:lnTo>
                  <a:pt x="1284" y="487"/>
                </a:lnTo>
                <a:lnTo>
                  <a:pt x="1282" y="481"/>
                </a:lnTo>
                <a:lnTo>
                  <a:pt x="1282" y="473"/>
                </a:lnTo>
                <a:lnTo>
                  <a:pt x="1295" y="369"/>
                </a:lnTo>
                <a:lnTo>
                  <a:pt x="1298" y="360"/>
                </a:lnTo>
                <a:lnTo>
                  <a:pt x="1302" y="350"/>
                </a:lnTo>
                <a:lnTo>
                  <a:pt x="1309" y="344"/>
                </a:lnTo>
                <a:lnTo>
                  <a:pt x="1317" y="337"/>
                </a:lnTo>
                <a:close/>
                <a:moveTo>
                  <a:pt x="833" y="50"/>
                </a:moveTo>
                <a:lnTo>
                  <a:pt x="824" y="38"/>
                </a:lnTo>
                <a:lnTo>
                  <a:pt x="813" y="29"/>
                </a:lnTo>
                <a:lnTo>
                  <a:pt x="801" y="19"/>
                </a:lnTo>
                <a:lnTo>
                  <a:pt x="787" y="13"/>
                </a:lnTo>
                <a:lnTo>
                  <a:pt x="769" y="7"/>
                </a:lnTo>
                <a:lnTo>
                  <a:pt x="750" y="4"/>
                </a:lnTo>
                <a:lnTo>
                  <a:pt x="729" y="2"/>
                </a:lnTo>
                <a:lnTo>
                  <a:pt x="704" y="0"/>
                </a:lnTo>
                <a:lnTo>
                  <a:pt x="690" y="0"/>
                </a:lnTo>
                <a:lnTo>
                  <a:pt x="674" y="2"/>
                </a:lnTo>
                <a:lnTo>
                  <a:pt x="659" y="4"/>
                </a:lnTo>
                <a:lnTo>
                  <a:pt x="643" y="7"/>
                </a:lnTo>
                <a:lnTo>
                  <a:pt x="630" y="9"/>
                </a:lnTo>
                <a:lnTo>
                  <a:pt x="616" y="15"/>
                </a:lnTo>
                <a:lnTo>
                  <a:pt x="606" y="21"/>
                </a:lnTo>
                <a:lnTo>
                  <a:pt x="594" y="27"/>
                </a:lnTo>
                <a:lnTo>
                  <a:pt x="585" y="34"/>
                </a:lnTo>
                <a:lnTo>
                  <a:pt x="576" y="42"/>
                </a:lnTo>
                <a:lnTo>
                  <a:pt x="567" y="50"/>
                </a:lnTo>
                <a:lnTo>
                  <a:pt x="560" y="59"/>
                </a:lnTo>
                <a:lnTo>
                  <a:pt x="555" y="71"/>
                </a:lnTo>
                <a:lnTo>
                  <a:pt x="550" y="82"/>
                </a:lnTo>
                <a:lnTo>
                  <a:pt x="544" y="94"/>
                </a:lnTo>
                <a:lnTo>
                  <a:pt x="543" y="108"/>
                </a:lnTo>
                <a:lnTo>
                  <a:pt x="539" y="121"/>
                </a:lnTo>
                <a:lnTo>
                  <a:pt x="499" y="469"/>
                </a:lnTo>
                <a:lnTo>
                  <a:pt x="497" y="483"/>
                </a:lnTo>
                <a:lnTo>
                  <a:pt x="497" y="498"/>
                </a:lnTo>
                <a:lnTo>
                  <a:pt x="499" y="512"/>
                </a:lnTo>
                <a:lnTo>
                  <a:pt x="502" y="525"/>
                </a:lnTo>
                <a:lnTo>
                  <a:pt x="509" y="541"/>
                </a:lnTo>
                <a:lnTo>
                  <a:pt x="518" y="554"/>
                </a:lnTo>
                <a:lnTo>
                  <a:pt x="530" y="564"/>
                </a:lnTo>
                <a:lnTo>
                  <a:pt x="546" y="573"/>
                </a:lnTo>
                <a:lnTo>
                  <a:pt x="564" y="581"/>
                </a:lnTo>
                <a:lnTo>
                  <a:pt x="585" y="585"/>
                </a:lnTo>
                <a:lnTo>
                  <a:pt x="608" y="589"/>
                </a:lnTo>
                <a:lnTo>
                  <a:pt x="634" y="589"/>
                </a:lnTo>
                <a:lnTo>
                  <a:pt x="666" y="589"/>
                </a:lnTo>
                <a:lnTo>
                  <a:pt x="694" y="585"/>
                </a:lnTo>
                <a:lnTo>
                  <a:pt x="720" y="577"/>
                </a:lnTo>
                <a:lnTo>
                  <a:pt x="732" y="573"/>
                </a:lnTo>
                <a:lnTo>
                  <a:pt x="743" y="568"/>
                </a:lnTo>
                <a:lnTo>
                  <a:pt x="752" y="560"/>
                </a:lnTo>
                <a:lnTo>
                  <a:pt x="760" y="554"/>
                </a:lnTo>
                <a:lnTo>
                  <a:pt x="769" y="546"/>
                </a:lnTo>
                <a:lnTo>
                  <a:pt x="776" y="539"/>
                </a:lnTo>
                <a:lnTo>
                  <a:pt x="782" y="529"/>
                </a:lnTo>
                <a:lnTo>
                  <a:pt x="787" y="520"/>
                </a:lnTo>
                <a:lnTo>
                  <a:pt x="792" y="508"/>
                </a:lnTo>
                <a:lnTo>
                  <a:pt x="796" y="498"/>
                </a:lnTo>
                <a:lnTo>
                  <a:pt x="799" y="485"/>
                </a:lnTo>
                <a:lnTo>
                  <a:pt x="801" y="473"/>
                </a:lnTo>
                <a:lnTo>
                  <a:pt x="815" y="356"/>
                </a:lnTo>
                <a:lnTo>
                  <a:pt x="685" y="356"/>
                </a:lnTo>
                <a:lnTo>
                  <a:pt x="671" y="479"/>
                </a:lnTo>
                <a:lnTo>
                  <a:pt x="667" y="489"/>
                </a:lnTo>
                <a:lnTo>
                  <a:pt x="662" y="496"/>
                </a:lnTo>
                <a:lnTo>
                  <a:pt x="655" y="500"/>
                </a:lnTo>
                <a:lnTo>
                  <a:pt x="646" y="502"/>
                </a:lnTo>
                <a:lnTo>
                  <a:pt x="641" y="502"/>
                </a:lnTo>
                <a:lnTo>
                  <a:pt x="636" y="500"/>
                </a:lnTo>
                <a:lnTo>
                  <a:pt x="632" y="498"/>
                </a:lnTo>
                <a:lnTo>
                  <a:pt x="630" y="495"/>
                </a:lnTo>
                <a:lnTo>
                  <a:pt x="629" y="491"/>
                </a:lnTo>
                <a:lnTo>
                  <a:pt x="627" y="485"/>
                </a:lnTo>
                <a:lnTo>
                  <a:pt x="627" y="479"/>
                </a:lnTo>
                <a:lnTo>
                  <a:pt x="627" y="473"/>
                </a:lnTo>
                <a:lnTo>
                  <a:pt x="643" y="337"/>
                </a:lnTo>
                <a:lnTo>
                  <a:pt x="817" y="337"/>
                </a:lnTo>
                <a:lnTo>
                  <a:pt x="843" y="117"/>
                </a:lnTo>
                <a:lnTo>
                  <a:pt x="845" y="98"/>
                </a:lnTo>
                <a:lnTo>
                  <a:pt x="843" y="79"/>
                </a:lnTo>
                <a:lnTo>
                  <a:pt x="840" y="63"/>
                </a:lnTo>
                <a:lnTo>
                  <a:pt x="833" y="50"/>
                </a:lnTo>
                <a:close/>
                <a:moveTo>
                  <a:pt x="695" y="90"/>
                </a:moveTo>
                <a:lnTo>
                  <a:pt x="701" y="90"/>
                </a:lnTo>
                <a:lnTo>
                  <a:pt x="704" y="92"/>
                </a:lnTo>
                <a:lnTo>
                  <a:pt x="708" y="94"/>
                </a:lnTo>
                <a:lnTo>
                  <a:pt x="711" y="98"/>
                </a:lnTo>
                <a:lnTo>
                  <a:pt x="713" y="102"/>
                </a:lnTo>
                <a:lnTo>
                  <a:pt x="713" y="106"/>
                </a:lnTo>
                <a:lnTo>
                  <a:pt x="715" y="111"/>
                </a:lnTo>
                <a:lnTo>
                  <a:pt x="713" y="119"/>
                </a:lnTo>
                <a:lnTo>
                  <a:pt x="699" y="252"/>
                </a:lnTo>
                <a:lnTo>
                  <a:pt x="653" y="252"/>
                </a:lnTo>
                <a:lnTo>
                  <a:pt x="669" y="119"/>
                </a:lnTo>
                <a:lnTo>
                  <a:pt x="671" y="108"/>
                </a:lnTo>
                <a:lnTo>
                  <a:pt x="674" y="100"/>
                </a:lnTo>
                <a:lnTo>
                  <a:pt x="680" y="94"/>
                </a:lnTo>
                <a:lnTo>
                  <a:pt x="687" y="92"/>
                </a:lnTo>
                <a:lnTo>
                  <a:pt x="695" y="90"/>
                </a:lnTo>
                <a:close/>
                <a:moveTo>
                  <a:pt x="1147" y="25"/>
                </a:moveTo>
                <a:lnTo>
                  <a:pt x="1128" y="13"/>
                </a:lnTo>
                <a:lnTo>
                  <a:pt x="1108" y="7"/>
                </a:lnTo>
                <a:lnTo>
                  <a:pt x="1089" y="2"/>
                </a:lnTo>
                <a:lnTo>
                  <a:pt x="1068" y="0"/>
                </a:lnTo>
                <a:lnTo>
                  <a:pt x="1052" y="2"/>
                </a:lnTo>
                <a:lnTo>
                  <a:pt x="1038" y="4"/>
                </a:lnTo>
                <a:lnTo>
                  <a:pt x="1024" y="7"/>
                </a:lnTo>
                <a:lnTo>
                  <a:pt x="1012" y="13"/>
                </a:lnTo>
                <a:lnTo>
                  <a:pt x="989" y="29"/>
                </a:lnTo>
                <a:lnTo>
                  <a:pt x="980" y="4"/>
                </a:lnTo>
                <a:lnTo>
                  <a:pt x="883" y="4"/>
                </a:lnTo>
                <a:lnTo>
                  <a:pt x="799" y="706"/>
                </a:lnTo>
                <a:lnTo>
                  <a:pt x="929" y="706"/>
                </a:lnTo>
                <a:lnTo>
                  <a:pt x="945" y="570"/>
                </a:lnTo>
                <a:lnTo>
                  <a:pt x="954" y="575"/>
                </a:lnTo>
                <a:lnTo>
                  <a:pt x="963" y="581"/>
                </a:lnTo>
                <a:lnTo>
                  <a:pt x="975" y="585"/>
                </a:lnTo>
                <a:lnTo>
                  <a:pt x="987" y="587"/>
                </a:lnTo>
                <a:lnTo>
                  <a:pt x="1024" y="589"/>
                </a:lnTo>
                <a:lnTo>
                  <a:pt x="1043" y="589"/>
                </a:lnTo>
                <a:lnTo>
                  <a:pt x="1061" y="585"/>
                </a:lnTo>
                <a:lnTo>
                  <a:pt x="1077" y="579"/>
                </a:lnTo>
                <a:lnTo>
                  <a:pt x="1093" y="570"/>
                </a:lnTo>
                <a:lnTo>
                  <a:pt x="1107" y="556"/>
                </a:lnTo>
                <a:lnTo>
                  <a:pt x="1115" y="543"/>
                </a:lnTo>
                <a:lnTo>
                  <a:pt x="1119" y="535"/>
                </a:lnTo>
                <a:lnTo>
                  <a:pt x="1122" y="527"/>
                </a:lnTo>
                <a:lnTo>
                  <a:pt x="1124" y="520"/>
                </a:lnTo>
                <a:lnTo>
                  <a:pt x="1126" y="510"/>
                </a:lnTo>
                <a:lnTo>
                  <a:pt x="1175" y="94"/>
                </a:lnTo>
                <a:lnTo>
                  <a:pt x="1177" y="84"/>
                </a:lnTo>
                <a:lnTo>
                  <a:pt x="1175" y="75"/>
                </a:lnTo>
                <a:lnTo>
                  <a:pt x="1175" y="65"/>
                </a:lnTo>
                <a:lnTo>
                  <a:pt x="1172" y="56"/>
                </a:lnTo>
                <a:lnTo>
                  <a:pt x="1168" y="48"/>
                </a:lnTo>
                <a:lnTo>
                  <a:pt x="1163" y="38"/>
                </a:lnTo>
                <a:lnTo>
                  <a:pt x="1156" y="32"/>
                </a:lnTo>
                <a:lnTo>
                  <a:pt x="1147" y="25"/>
                </a:lnTo>
                <a:close/>
                <a:moveTo>
                  <a:pt x="1008" y="94"/>
                </a:moveTo>
                <a:lnTo>
                  <a:pt x="1015" y="92"/>
                </a:lnTo>
                <a:lnTo>
                  <a:pt x="1024" y="90"/>
                </a:lnTo>
                <a:lnTo>
                  <a:pt x="1031" y="90"/>
                </a:lnTo>
                <a:lnTo>
                  <a:pt x="1035" y="92"/>
                </a:lnTo>
                <a:lnTo>
                  <a:pt x="1038" y="94"/>
                </a:lnTo>
                <a:lnTo>
                  <a:pt x="1042" y="96"/>
                </a:lnTo>
                <a:lnTo>
                  <a:pt x="1045" y="106"/>
                </a:lnTo>
                <a:lnTo>
                  <a:pt x="1045" y="117"/>
                </a:lnTo>
                <a:lnTo>
                  <a:pt x="1001" y="473"/>
                </a:lnTo>
                <a:lnTo>
                  <a:pt x="999" y="481"/>
                </a:lnTo>
                <a:lnTo>
                  <a:pt x="998" y="487"/>
                </a:lnTo>
                <a:lnTo>
                  <a:pt x="994" y="493"/>
                </a:lnTo>
                <a:lnTo>
                  <a:pt x="991" y="496"/>
                </a:lnTo>
                <a:lnTo>
                  <a:pt x="985" y="500"/>
                </a:lnTo>
                <a:lnTo>
                  <a:pt x="977" y="502"/>
                </a:lnTo>
                <a:lnTo>
                  <a:pt x="971" y="500"/>
                </a:lnTo>
                <a:lnTo>
                  <a:pt x="966" y="500"/>
                </a:lnTo>
                <a:lnTo>
                  <a:pt x="963" y="498"/>
                </a:lnTo>
                <a:lnTo>
                  <a:pt x="959" y="495"/>
                </a:lnTo>
                <a:lnTo>
                  <a:pt x="957" y="491"/>
                </a:lnTo>
                <a:lnTo>
                  <a:pt x="955" y="487"/>
                </a:lnTo>
                <a:lnTo>
                  <a:pt x="955" y="481"/>
                </a:lnTo>
                <a:lnTo>
                  <a:pt x="957" y="475"/>
                </a:lnTo>
                <a:lnTo>
                  <a:pt x="999" y="117"/>
                </a:lnTo>
                <a:lnTo>
                  <a:pt x="999" y="109"/>
                </a:lnTo>
                <a:lnTo>
                  <a:pt x="1001" y="104"/>
                </a:lnTo>
                <a:lnTo>
                  <a:pt x="1005" y="98"/>
                </a:lnTo>
                <a:lnTo>
                  <a:pt x="1008" y="94"/>
                </a:lnTo>
                <a:close/>
              </a:path>
            </a:pathLst>
          </a:custGeom>
          <a:solidFill>
            <a:srgbClr val="ADADAD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eaLnBrk="0" hangingPunct="0">
              <a:defRPr/>
            </a:pPr>
            <a:endParaRPr lang="en-US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788" y="6427788"/>
            <a:ext cx="342900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900" b="1">
                <a:solidFill>
                  <a:srgbClr val="AEAEAE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fld id="{FAC146AE-608E-4FA2-8ADD-40608B05401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82" r:id="rId2"/>
    <p:sldLayoutId id="2147483981" r:id="rId3"/>
    <p:sldLayoutId id="2147483980" r:id="rId4"/>
    <p:sldLayoutId id="2147483979" r:id="rId5"/>
    <p:sldLayoutId id="2147483978" r:id="rId6"/>
    <p:sldLayoutId id="2147483977" r:id="rId7"/>
    <p:sldLayoutId id="2147483976" r:id="rId8"/>
    <p:sldLayoutId id="2147483975" r:id="rId9"/>
    <p:sldLayoutId id="2147483974" r:id="rId10"/>
    <p:sldLayoutId id="214748397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buChar char="•"/>
        <a:defRPr sz="3200" b="1">
          <a:solidFill>
            <a:srgbClr val="002B78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2B78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0" y="0"/>
            <a:ext cx="1576388" cy="6858000"/>
            <a:chOff x="0" y="0"/>
            <a:chExt cx="993" cy="4320"/>
          </a:xfrm>
        </p:grpSpPr>
        <p:sp>
          <p:nvSpPr>
            <p:cNvPr id="31753" name="Rectangle 9" descr="Dark horizontal"/>
            <p:cNvSpPr>
              <a:spLocks noChangeArrowheads="1"/>
            </p:cNvSpPr>
            <p:nvPr userDrawn="1"/>
          </p:nvSpPr>
          <p:spPr bwMode="auto">
            <a:xfrm>
              <a:off x="0" y="0"/>
              <a:ext cx="975" cy="4320"/>
            </a:xfrm>
            <a:prstGeom prst="rect">
              <a:avLst/>
            </a:prstGeom>
            <a:pattFill prst="dkHorz">
              <a:fgClr>
                <a:srgbClr val="002C78"/>
              </a:fgClr>
              <a:bgClr>
                <a:schemeClr val="tx2"/>
              </a:bgClr>
            </a:patt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/>
            </a:p>
          </p:txBody>
        </p:sp>
        <p:sp>
          <p:nvSpPr>
            <p:cNvPr id="31754" name="Rectangle 10"/>
            <p:cNvSpPr>
              <a:spLocks noChangeArrowheads="1"/>
            </p:cNvSpPr>
            <p:nvPr userDrawn="1"/>
          </p:nvSpPr>
          <p:spPr bwMode="auto">
            <a:xfrm>
              <a:off x="0" y="0"/>
              <a:ext cx="975" cy="432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  <a:alpha val="5000"/>
                  </a:schemeClr>
                </a:gs>
                <a:gs pos="100000">
                  <a:schemeClr val="hlink">
                    <a:alpha val="49001"/>
                  </a:schemeClr>
                </a:gs>
              </a:gsLst>
              <a:lin ang="27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/>
            </a:p>
          </p:txBody>
        </p:sp>
        <p:sp>
          <p:nvSpPr>
            <p:cNvPr id="31756" name="Line 12"/>
            <p:cNvSpPr>
              <a:spLocks noChangeShapeType="1"/>
            </p:cNvSpPr>
            <p:nvPr userDrawn="1"/>
          </p:nvSpPr>
          <p:spPr bwMode="auto">
            <a:xfrm>
              <a:off x="993" y="0"/>
              <a:ext cx="0" cy="4320"/>
            </a:xfrm>
            <a:prstGeom prst="line">
              <a:avLst/>
            </a:prstGeom>
            <a:noFill/>
            <a:ln w="28575">
              <a:solidFill>
                <a:srgbClr val="002C78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/>
            </a:p>
          </p:txBody>
        </p:sp>
      </p:grp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874838" y="157163"/>
            <a:ext cx="6794500" cy="3937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add title</a:t>
            </a: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838200" y="1447800"/>
            <a:ext cx="75072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 typeface="Verdana" pitchFamily="34" charset="0"/>
              <a:buNone/>
              <a:defRPr/>
            </a:pPr>
            <a:endParaRPr lang="en-US" b="1">
              <a:solidFill>
                <a:srgbClr val="002B78"/>
              </a:solidFill>
            </a:endParaRPr>
          </a:p>
        </p:txBody>
      </p:sp>
      <p:sp>
        <p:nvSpPr>
          <p:cNvPr id="410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0" y="1042988"/>
            <a:ext cx="6781800" cy="513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add text</a:t>
            </a:r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6329363" y="6451600"/>
            <a:ext cx="2357437" cy="166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r>
              <a:rPr lang="en-US" sz="800">
                <a:solidFill>
                  <a:srgbClr val="AEAEAE"/>
                </a:solidFill>
                <a:latin typeface="Verdana" pitchFamily="34" charset="0"/>
              </a:rPr>
              <a:t>® 2008. EPAM Systems. All rights reserved.</a:t>
            </a:r>
            <a:endParaRPr lang="en-US">
              <a:latin typeface="Verdana" pitchFamily="34" charset="0"/>
            </a:endParaRPr>
          </a:p>
        </p:txBody>
      </p:sp>
      <p:sp>
        <p:nvSpPr>
          <p:cNvPr id="31762" name="Freeform 18"/>
          <p:cNvSpPr>
            <a:spLocks noEditPoints="1"/>
          </p:cNvSpPr>
          <p:nvPr/>
        </p:nvSpPr>
        <p:spPr bwMode="auto">
          <a:xfrm>
            <a:off x="292100" y="6410325"/>
            <a:ext cx="990600" cy="247650"/>
          </a:xfrm>
          <a:custGeom>
            <a:avLst/>
            <a:gdLst/>
            <a:ahLst/>
            <a:cxnLst>
              <a:cxn ang="0">
                <a:pos x="1997" y="570"/>
              </a:cxn>
              <a:cxn ang="0">
                <a:pos x="0" y="377"/>
              </a:cxn>
              <a:cxn ang="0">
                <a:pos x="1660" y="25"/>
              </a:cxn>
              <a:cxn ang="0">
                <a:pos x="1651" y="108"/>
              </a:cxn>
              <a:cxn ang="0">
                <a:pos x="1679" y="92"/>
              </a:cxn>
              <a:cxn ang="0">
                <a:pos x="1639" y="583"/>
              </a:cxn>
              <a:cxn ang="0">
                <a:pos x="1848" y="94"/>
              </a:cxn>
              <a:cxn ang="0">
                <a:pos x="1867" y="109"/>
              </a:cxn>
              <a:cxn ang="0">
                <a:pos x="2001" y="75"/>
              </a:cxn>
              <a:cxn ang="0">
                <a:pos x="1966" y="13"/>
              </a:cxn>
              <a:cxn ang="0">
                <a:pos x="1876" y="5"/>
              </a:cxn>
              <a:cxn ang="0">
                <a:pos x="1811" y="31"/>
              </a:cxn>
              <a:cxn ang="0">
                <a:pos x="1755" y="2"/>
              </a:cxn>
              <a:cxn ang="0">
                <a:pos x="1667" y="19"/>
              </a:cxn>
              <a:cxn ang="0">
                <a:pos x="1268" y="19"/>
              </a:cxn>
              <a:cxn ang="0">
                <a:pos x="1217" y="61"/>
              </a:cxn>
              <a:cxn ang="0">
                <a:pos x="1187" y="233"/>
              </a:cxn>
              <a:cxn ang="0">
                <a:pos x="1337" y="96"/>
              </a:cxn>
              <a:cxn ang="0">
                <a:pos x="1367" y="98"/>
              </a:cxn>
              <a:cxn ang="0">
                <a:pos x="1356" y="211"/>
              </a:cxn>
              <a:cxn ang="0">
                <a:pos x="1240" y="285"/>
              </a:cxn>
              <a:cxn ang="0">
                <a:pos x="1165" y="383"/>
              </a:cxn>
              <a:cxn ang="0">
                <a:pos x="1159" y="556"/>
              </a:cxn>
              <a:cxn ang="0">
                <a:pos x="1228" y="589"/>
              </a:cxn>
              <a:cxn ang="0">
                <a:pos x="1314" y="577"/>
              </a:cxn>
              <a:cxn ang="0">
                <a:pos x="1498" y="121"/>
              </a:cxn>
              <a:cxn ang="0">
                <a:pos x="1477" y="36"/>
              </a:cxn>
              <a:cxn ang="0">
                <a:pos x="1368" y="0"/>
              </a:cxn>
              <a:cxn ang="0">
                <a:pos x="1323" y="493"/>
              </a:cxn>
              <a:cxn ang="0">
                <a:pos x="1289" y="498"/>
              </a:cxn>
              <a:cxn ang="0">
                <a:pos x="1295" y="369"/>
              </a:cxn>
              <a:cxn ang="0">
                <a:pos x="824" y="38"/>
              </a:cxn>
              <a:cxn ang="0">
                <a:pos x="729" y="2"/>
              </a:cxn>
              <a:cxn ang="0">
                <a:pos x="630" y="9"/>
              </a:cxn>
              <a:cxn ang="0">
                <a:pos x="567" y="50"/>
              </a:cxn>
              <a:cxn ang="0">
                <a:pos x="539" y="121"/>
              </a:cxn>
              <a:cxn ang="0">
                <a:pos x="509" y="541"/>
              </a:cxn>
              <a:cxn ang="0">
                <a:pos x="608" y="589"/>
              </a:cxn>
              <a:cxn ang="0">
                <a:pos x="743" y="568"/>
              </a:cxn>
              <a:cxn ang="0">
                <a:pos x="787" y="520"/>
              </a:cxn>
              <a:cxn ang="0">
                <a:pos x="685" y="356"/>
              </a:cxn>
              <a:cxn ang="0">
                <a:pos x="641" y="502"/>
              </a:cxn>
              <a:cxn ang="0">
                <a:pos x="627" y="479"/>
              </a:cxn>
              <a:cxn ang="0">
                <a:pos x="843" y="79"/>
              </a:cxn>
              <a:cxn ang="0">
                <a:pos x="708" y="94"/>
              </a:cxn>
              <a:cxn ang="0">
                <a:pos x="699" y="252"/>
              </a:cxn>
              <a:cxn ang="0">
                <a:pos x="687" y="92"/>
              </a:cxn>
              <a:cxn ang="0">
                <a:pos x="1068" y="0"/>
              </a:cxn>
              <a:cxn ang="0">
                <a:pos x="980" y="4"/>
              </a:cxn>
              <a:cxn ang="0">
                <a:pos x="963" y="581"/>
              </a:cxn>
              <a:cxn ang="0">
                <a:pos x="1077" y="579"/>
              </a:cxn>
              <a:cxn ang="0">
                <a:pos x="1124" y="520"/>
              </a:cxn>
              <a:cxn ang="0">
                <a:pos x="1172" y="56"/>
              </a:cxn>
              <a:cxn ang="0">
                <a:pos x="1015" y="92"/>
              </a:cxn>
              <a:cxn ang="0">
                <a:pos x="1045" y="106"/>
              </a:cxn>
              <a:cxn ang="0">
                <a:pos x="991" y="496"/>
              </a:cxn>
              <a:cxn ang="0">
                <a:pos x="959" y="495"/>
              </a:cxn>
              <a:cxn ang="0">
                <a:pos x="999" y="109"/>
              </a:cxn>
            </a:cxnLst>
            <a:rect l="0" t="0" r="r" b="b"/>
            <a:pathLst>
              <a:path w="2496" h="706">
                <a:moveTo>
                  <a:pt x="2029" y="56"/>
                </a:moveTo>
                <a:lnTo>
                  <a:pt x="2020" y="177"/>
                </a:lnTo>
                <a:lnTo>
                  <a:pt x="2349" y="314"/>
                </a:lnTo>
                <a:lnTo>
                  <a:pt x="1999" y="450"/>
                </a:lnTo>
                <a:lnTo>
                  <a:pt x="1990" y="573"/>
                </a:lnTo>
                <a:lnTo>
                  <a:pt x="1997" y="570"/>
                </a:lnTo>
                <a:lnTo>
                  <a:pt x="2496" y="373"/>
                </a:lnTo>
                <a:lnTo>
                  <a:pt x="2496" y="248"/>
                </a:lnTo>
                <a:lnTo>
                  <a:pt x="2029" y="56"/>
                </a:lnTo>
                <a:close/>
                <a:moveTo>
                  <a:pt x="506" y="56"/>
                </a:moveTo>
                <a:lnTo>
                  <a:pt x="0" y="252"/>
                </a:lnTo>
                <a:lnTo>
                  <a:pt x="0" y="377"/>
                </a:lnTo>
                <a:lnTo>
                  <a:pt x="467" y="573"/>
                </a:lnTo>
                <a:lnTo>
                  <a:pt x="476" y="450"/>
                </a:lnTo>
                <a:lnTo>
                  <a:pt x="146" y="314"/>
                </a:lnTo>
                <a:lnTo>
                  <a:pt x="497" y="177"/>
                </a:lnTo>
                <a:lnTo>
                  <a:pt x="506" y="56"/>
                </a:lnTo>
                <a:close/>
                <a:moveTo>
                  <a:pt x="1660" y="25"/>
                </a:moveTo>
                <a:lnTo>
                  <a:pt x="1662" y="4"/>
                </a:lnTo>
                <a:lnTo>
                  <a:pt x="1533" y="4"/>
                </a:lnTo>
                <a:lnTo>
                  <a:pt x="1465" y="583"/>
                </a:lnTo>
                <a:lnTo>
                  <a:pt x="1593" y="583"/>
                </a:lnTo>
                <a:lnTo>
                  <a:pt x="1649" y="119"/>
                </a:lnTo>
                <a:lnTo>
                  <a:pt x="1651" y="108"/>
                </a:lnTo>
                <a:lnTo>
                  <a:pt x="1656" y="100"/>
                </a:lnTo>
                <a:lnTo>
                  <a:pt x="1660" y="96"/>
                </a:lnTo>
                <a:lnTo>
                  <a:pt x="1663" y="94"/>
                </a:lnTo>
                <a:lnTo>
                  <a:pt x="1669" y="92"/>
                </a:lnTo>
                <a:lnTo>
                  <a:pt x="1674" y="92"/>
                </a:lnTo>
                <a:lnTo>
                  <a:pt x="1679" y="92"/>
                </a:lnTo>
                <a:lnTo>
                  <a:pt x="1683" y="94"/>
                </a:lnTo>
                <a:lnTo>
                  <a:pt x="1688" y="96"/>
                </a:lnTo>
                <a:lnTo>
                  <a:pt x="1690" y="100"/>
                </a:lnTo>
                <a:lnTo>
                  <a:pt x="1693" y="108"/>
                </a:lnTo>
                <a:lnTo>
                  <a:pt x="1695" y="119"/>
                </a:lnTo>
                <a:lnTo>
                  <a:pt x="1639" y="583"/>
                </a:lnTo>
                <a:lnTo>
                  <a:pt x="1767" y="583"/>
                </a:lnTo>
                <a:lnTo>
                  <a:pt x="1823" y="119"/>
                </a:lnTo>
                <a:lnTo>
                  <a:pt x="1825" y="109"/>
                </a:lnTo>
                <a:lnTo>
                  <a:pt x="1830" y="102"/>
                </a:lnTo>
                <a:lnTo>
                  <a:pt x="1837" y="96"/>
                </a:lnTo>
                <a:lnTo>
                  <a:pt x="1848" y="94"/>
                </a:lnTo>
                <a:lnTo>
                  <a:pt x="1853" y="96"/>
                </a:lnTo>
                <a:lnTo>
                  <a:pt x="1858" y="96"/>
                </a:lnTo>
                <a:lnTo>
                  <a:pt x="1862" y="98"/>
                </a:lnTo>
                <a:lnTo>
                  <a:pt x="1864" y="102"/>
                </a:lnTo>
                <a:lnTo>
                  <a:pt x="1866" y="104"/>
                </a:lnTo>
                <a:lnTo>
                  <a:pt x="1867" y="109"/>
                </a:lnTo>
                <a:lnTo>
                  <a:pt x="1867" y="115"/>
                </a:lnTo>
                <a:lnTo>
                  <a:pt x="1867" y="121"/>
                </a:lnTo>
                <a:lnTo>
                  <a:pt x="1813" y="583"/>
                </a:lnTo>
                <a:lnTo>
                  <a:pt x="1943" y="583"/>
                </a:lnTo>
                <a:lnTo>
                  <a:pt x="2001" y="82"/>
                </a:lnTo>
                <a:lnTo>
                  <a:pt x="2001" y="75"/>
                </a:lnTo>
                <a:lnTo>
                  <a:pt x="2001" y="65"/>
                </a:lnTo>
                <a:lnTo>
                  <a:pt x="1999" y="56"/>
                </a:lnTo>
                <a:lnTo>
                  <a:pt x="1997" y="48"/>
                </a:lnTo>
                <a:lnTo>
                  <a:pt x="1988" y="32"/>
                </a:lnTo>
                <a:lnTo>
                  <a:pt x="1978" y="23"/>
                </a:lnTo>
                <a:lnTo>
                  <a:pt x="1966" y="13"/>
                </a:lnTo>
                <a:lnTo>
                  <a:pt x="1950" y="5"/>
                </a:lnTo>
                <a:lnTo>
                  <a:pt x="1934" y="2"/>
                </a:lnTo>
                <a:lnTo>
                  <a:pt x="1918" y="0"/>
                </a:lnTo>
                <a:lnTo>
                  <a:pt x="1902" y="2"/>
                </a:lnTo>
                <a:lnTo>
                  <a:pt x="1890" y="4"/>
                </a:lnTo>
                <a:lnTo>
                  <a:pt x="1876" y="5"/>
                </a:lnTo>
                <a:lnTo>
                  <a:pt x="1864" y="9"/>
                </a:lnTo>
                <a:lnTo>
                  <a:pt x="1851" y="15"/>
                </a:lnTo>
                <a:lnTo>
                  <a:pt x="1841" y="23"/>
                </a:lnTo>
                <a:lnTo>
                  <a:pt x="1830" y="31"/>
                </a:lnTo>
                <a:lnTo>
                  <a:pt x="1820" y="40"/>
                </a:lnTo>
                <a:lnTo>
                  <a:pt x="1811" y="31"/>
                </a:lnTo>
                <a:lnTo>
                  <a:pt x="1804" y="23"/>
                </a:lnTo>
                <a:lnTo>
                  <a:pt x="1795" y="15"/>
                </a:lnTo>
                <a:lnTo>
                  <a:pt x="1785" y="9"/>
                </a:lnTo>
                <a:lnTo>
                  <a:pt x="1776" y="5"/>
                </a:lnTo>
                <a:lnTo>
                  <a:pt x="1765" y="4"/>
                </a:lnTo>
                <a:lnTo>
                  <a:pt x="1755" y="2"/>
                </a:lnTo>
                <a:lnTo>
                  <a:pt x="1743" y="0"/>
                </a:lnTo>
                <a:lnTo>
                  <a:pt x="1718" y="2"/>
                </a:lnTo>
                <a:lnTo>
                  <a:pt x="1695" y="7"/>
                </a:lnTo>
                <a:lnTo>
                  <a:pt x="1686" y="9"/>
                </a:lnTo>
                <a:lnTo>
                  <a:pt x="1676" y="13"/>
                </a:lnTo>
                <a:lnTo>
                  <a:pt x="1667" y="19"/>
                </a:lnTo>
                <a:lnTo>
                  <a:pt x="1660" y="25"/>
                </a:lnTo>
                <a:close/>
                <a:moveTo>
                  <a:pt x="1368" y="0"/>
                </a:moveTo>
                <a:lnTo>
                  <a:pt x="1331" y="2"/>
                </a:lnTo>
                <a:lnTo>
                  <a:pt x="1303" y="7"/>
                </a:lnTo>
                <a:lnTo>
                  <a:pt x="1279" y="13"/>
                </a:lnTo>
                <a:lnTo>
                  <a:pt x="1268" y="19"/>
                </a:lnTo>
                <a:lnTo>
                  <a:pt x="1258" y="25"/>
                </a:lnTo>
                <a:lnTo>
                  <a:pt x="1247" y="31"/>
                </a:lnTo>
                <a:lnTo>
                  <a:pt x="1238" y="38"/>
                </a:lnTo>
                <a:lnTo>
                  <a:pt x="1231" y="46"/>
                </a:lnTo>
                <a:lnTo>
                  <a:pt x="1224" y="54"/>
                </a:lnTo>
                <a:lnTo>
                  <a:pt x="1217" y="61"/>
                </a:lnTo>
                <a:lnTo>
                  <a:pt x="1212" y="71"/>
                </a:lnTo>
                <a:lnTo>
                  <a:pt x="1208" y="82"/>
                </a:lnTo>
                <a:lnTo>
                  <a:pt x="1205" y="94"/>
                </a:lnTo>
                <a:lnTo>
                  <a:pt x="1201" y="106"/>
                </a:lnTo>
                <a:lnTo>
                  <a:pt x="1200" y="117"/>
                </a:lnTo>
                <a:lnTo>
                  <a:pt x="1187" y="233"/>
                </a:lnTo>
                <a:lnTo>
                  <a:pt x="1312" y="233"/>
                </a:lnTo>
                <a:lnTo>
                  <a:pt x="1317" y="160"/>
                </a:lnTo>
                <a:lnTo>
                  <a:pt x="1321" y="134"/>
                </a:lnTo>
                <a:lnTo>
                  <a:pt x="1326" y="115"/>
                </a:lnTo>
                <a:lnTo>
                  <a:pt x="1331" y="104"/>
                </a:lnTo>
                <a:lnTo>
                  <a:pt x="1337" y="96"/>
                </a:lnTo>
                <a:lnTo>
                  <a:pt x="1344" y="92"/>
                </a:lnTo>
                <a:lnTo>
                  <a:pt x="1351" y="90"/>
                </a:lnTo>
                <a:lnTo>
                  <a:pt x="1356" y="90"/>
                </a:lnTo>
                <a:lnTo>
                  <a:pt x="1361" y="92"/>
                </a:lnTo>
                <a:lnTo>
                  <a:pt x="1365" y="94"/>
                </a:lnTo>
                <a:lnTo>
                  <a:pt x="1367" y="98"/>
                </a:lnTo>
                <a:lnTo>
                  <a:pt x="1368" y="102"/>
                </a:lnTo>
                <a:lnTo>
                  <a:pt x="1370" y="106"/>
                </a:lnTo>
                <a:lnTo>
                  <a:pt x="1370" y="111"/>
                </a:lnTo>
                <a:lnTo>
                  <a:pt x="1370" y="119"/>
                </a:lnTo>
                <a:lnTo>
                  <a:pt x="1360" y="204"/>
                </a:lnTo>
                <a:lnTo>
                  <a:pt x="1356" y="211"/>
                </a:lnTo>
                <a:lnTo>
                  <a:pt x="1349" y="219"/>
                </a:lnTo>
                <a:lnTo>
                  <a:pt x="1337" y="227"/>
                </a:lnTo>
                <a:lnTo>
                  <a:pt x="1321" y="237"/>
                </a:lnTo>
                <a:lnTo>
                  <a:pt x="1309" y="242"/>
                </a:lnTo>
                <a:lnTo>
                  <a:pt x="1272" y="265"/>
                </a:lnTo>
                <a:lnTo>
                  <a:pt x="1240" y="285"/>
                </a:lnTo>
                <a:lnTo>
                  <a:pt x="1215" y="300"/>
                </a:lnTo>
                <a:lnTo>
                  <a:pt x="1198" y="315"/>
                </a:lnTo>
                <a:lnTo>
                  <a:pt x="1184" y="331"/>
                </a:lnTo>
                <a:lnTo>
                  <a:pt x="1175" y="348"/>
                </a:lnTo>
                <a:lnTo>
                  <a:pt x="1168" y="366"/>
                </a:lnTo>
                <a:lnTo>
                  <a:pt x="1165" y="383"/>
                </a:lnTo>
                <a:lnTo>
                  <a:pt x="1150" y="498"/>
                </a:lnTo>
                <a:lnTo>
                  <a:pt x="1149" y="512"/>
                </a:lnTo>
                <a:lnTo>
                  <a:pt x="1149" y="523"/>
                </a:lnTo>
                <a:lnTo>
                  <a:pt x="1152" y="535"/>
                </a:lnTo>
                <a:lnTo>
                  <a:pt x="1154" y="546"/>
                </a:lnTo>
                <a:lnTo>
                  <a:pt x="1159" y="556"/>
                </a:lnTo>
                <a:lnTo>
                  <a:pt x="1166" y="566"/>
                </a:lnTo>
                <a:lnTo>
                  <a:pt x="1175" y="573"/>
                </a:lnTo>
                <a:lnTo>
                  <a:pt x="1186" y="579"/>
                </a:lnTo>
                <a:lnTo>
                  <a:pt x="1198" y="583"/>
                </a:lnTo>
                <a:lnTo>
                  <a:pt x="1212" y="587"/>
                </a:lnTo>
                <a:lnTo>
                  <a:pt x="1228" y="589"/>
                </a:lnTo>
                <a:lnTo>
                  <a:pt x="1245" y="589"/>
                </a:lnTo>
                <a:lnTo>
                  <a:pt x="1265" y="589"/>
                </a:lnTo>
                <a:lnTo>
                  <a:pt x="1281" y="587"/>
                </a:lnTo>
                <a:lnTo>
                  <a:pt x="1295" y="585"/>
                </a:lnTo>
                <a:lnTo>
                  <a:pt x="1307" y="581"/>
                </a:lnTo>
                <a:lnTo>
                  <a:pt x="1314" y="577"/>
                </a:lnTo>
                <a:lnTo>
                  <a:pt x="1321" y="573"/>
                </a:lnTo>
                <a:lnTo>
                  <a:pt x="1328" y="568"/>
                </a:lnTo>
                <a:lnTo>
                  <a:pt x="1331" y="560"/>
                </a:lnTo>
                <a:lnTo>
                  <a:pt x="1330" y="583"/>
                </a:lnTo>
                <a:lnTo>
                  <a:pt x="1446" y="583"/>
                </a:lnTo>
                <a:lnTo>
                  <a:pt x="1498" y="121"/>
                </a:lnTo>
                <a:lnTo>
                  <a:pt x="1500" y="106"/>
                </a:lnTo>
                <a:lnTo>
                  <a:pt x="1500" y="90"/>
                </a:lnTo>
                <a:lnTo>
                  <a:pt x="1497" y="77"/>
                </a:lnTo>
                <a:lnTo>
                  <a:pt x="1495" y="63"/>
                </a:lnTo>
                <a:lnTo>
                  <a:pt x="1488" y="48"/>
                </a:lnTo>
                <a:lnTo>
                  <a:pt x="1477" y="36"/>
                </a:lnTo>
                <a:lnTo>
                  <a:pt x="1465" y="25"/>
                </a:lnTo>
                <a:lnTo>
                  <a:pt x="1451" y="17"/>
                </a:lnTo>
                <a:lnTo>
                  <a:pt x="1435" y="9"/>
                </a:lnTo>
                <a:lnTo>
                  <a:pt x="1414" y="4"/>
                </a:lnTo>
                <a:lnTo>
                  <a:pt x="1393" y="2"/>
                </a:lnTo>
                <a:lnTo>
                  <a:pt x="1368" y="0"/>
                </a:lnTo>
                <a:close/>
                <a:moveTo>
                  <a:pt x="1317" y="337"/>
                </a:moveTo>
                <a:lnTo>
                  <a:pt x="1330" y="331"/>
                </a:lnTo>
                <a:lnTo>
                  <a:pt x="1346" y="325"/>
                </a:lnTo>
                <a:lnTo>
                  <a:pt x="1328" y="473"/>
                </a:lnTo>
                <a:lnTo>
                  <a:pt x="1326" y="485"/>
                </a:lnTo>
                <a:lnTo>
                  <a:pt x="1323" y="493"/>
                </a:lnTo>
                <a:lnTo>
                  <a:pt x="1317" y="498"/>
                </a:lnTo>
                <a:lnTo>
                  <a:pt x="1310" y="500"/>
                </a:lnTo>
                <a:lnTo>
                  <a:pt x="1303" y="502"/>
                </a:lnTo>
                <a:lnTo>
                  <a:pt x="1298" y="500"/>
                </a:lnTo>
                <a:lnTo>
                  <a:pt x="1293" y="500"/>
                </a:lnTo>
                <a:lnTo>
                  <a:pt x="1289" y="498"/>
                </a:lnTo>
                <a:lnTo>
                  <a:pt x="1288" y="495"/>
                </a:lnTo>
                <a:lnTo>
                  <a:pt x="1284" y="491"/>
                </a:lnTo>
                <a:lnTo>
                  <a:pt x="1284" y="487"/>
                </a:lnTo>
                <a:lnTo>
                  <a:pt x="1282" y="481"/>
                </a:lnTo>
                <a:lnTo>
                  <a:pt x="1282" y="473"/>
                </a:lnTo>
                <a:lnTo>
                  <a:pt x="1295" y="369"/>
                </a:lnTo>
                <a:lnTo>
                  <a:pt x="1298" y="360"/>
                </a:lnTo>
                <a:lnTo>
                  <a:pt x="1302" y="350"/>
                </a:lnTo>
                <a:lnTo>
                  <a:pt x="1309" y="344"/>
                </a:lnTo>
                <a:lnTo>
                  <a:pt x="1317" y="337"/>
                </a:lnTo>
                <a:close/>
                <a:moveTo>
                  <a:pt x="833" y="50"/>
                </a:moveTo>
                <a:lnTo>
                  <a:pt x="824" y="38"/>
                </a:lnTo>
                <a:lnTo>
                  <a:pt x="813" y="29"/>
                </a:lnTo>
                <a:lnTo>
                  <a:pt x="801" y="19"/>
                </a:lnTo>
                <a:lnTo>
                  <a:pt x="787" y="13"/>
                </a:lnTo>
                <a:lnTo>
                  <a:pt x="769" y="7"/>
                </a:lnTo>
                <a:lnTo>
                  <a:pt x="750" y="4"/>
                </a:lnTo>
                <a:lnTo>
                  <a:pt x="729" y="2"/>
                </a:lnTo>
                <a:lnTo>
                  <a:pt x="704" y="0"/>
                </a:lnTo>
                <a:lnTo>
                  <a:pt x="690" y="0"/>
                </a:lnTo>
                <a:lnTo>
                  <a:pt x="674" y="2"/>
                </a:lnTo>
                <a:lnTo>
                  <a:pt x="659" y="4"/>
                </a:lnTo>
                <a:lnTo>
                  <a:pt x="643" y="7"/>
                </a:lnTo>
                <a:lnTo>
                  <a:pt x="630" y="9"/>
                </a:lnTo>
                <a:lnTo>
                  <a:pt x="616" y="15"/>
                </a:lnTo>
                <a:lnTo>
                  <a:pt x="606" y="21"/>
                </a:lnTo>
                <a:lnTo>
                  <a:pt x="594" y="27"/>
                </a:lnTo>
                <a:lnTo>
                  <a:pt x="585" y="34"/>
                </a:lnTo>
                <a:lnTo>
                  <a:pt x="576" y="42"/>
                </a:lnTo>
                <a:lnTo>
                  <a:pt x="567" y="50"/>
                </a:lnTo>
                <a:lnTo>
                  <a:pt x="560" y="59"/>
                </a:lnTo>
                <a:lnTo>
                  <a:pt x="555" y="71"/>
                </a:lnTo>
                <a:lnTo>
                  <a:pt x="550" y="82"/>
                </a:lnTo>
                <a:lnTo>
                  <a:pt x="544" y="94"/>
                </a:lnTo>
                <a:lnTo>
                  <a:pt x="543" y="108"/>
                </a:lnTo>
                <a:lnTo>
                  <a:pt x="539" y="121"/>
                </a:lnTo>
                <a:lnTo>
                  <a:pt x="499" y="469"/>
                </a:lnTo>
                <a:lnTo>
                  <a:pt x="497" y="483"/>
                </a:lnTo>
                <a:lnTo>
                  <a:pt x="497" y="498"/>
                </a:lnTo>
                <a:lnTo>
                  <a:pt x="499" y="512"/>
                </a:lnTo>
                <a:lnTo>
                  <a:pt x="502" y="525"/>
                </a:lnTo>
                <a:lnTo>
                  <a:pt x="509" y="541"/>
                </a:lnTo>
                <a:lnTo>
                  <a:pt x="518" y="554"/>
                </a:lnTo>
                <a:lnTo>
                  <a:pt x="530" y="564"/>
                </a:lnTo>
                <a:lnTo>
                  <a:pt x="546" y="573"/>
                </a:lnTo>
                <a:lnTo>
                  <a:pt x="564" y="581"/>
                </a:lnTo>
                <a:lnTo>
                  <a:pt x="585" y="585"/>
                </a:lnTo>
                <a:lnTo>
                  <a:pt x="608" y="589"/>
                </a:lnTo>
                <a:lnTo>
                  <a:pt x="634" y="589"/>
                </a:lnTo>
                <a:lnTo>
                  <a:pt x="666" y="589"/>
                </a:lnTo>
                <a:lnTo>
                  <a:pt x="694" y="585"/>
                </a:lnTo>
                <a:lnTo>
                  <a:pt x="720" y="577"/>
                </a:lnTo>
                <a:lnTo>
                  <a:pt x="732" y="573"/>
                </a:lnTo>
                <a:lnTo>
                  <a:pt x="743" y="568"/>
                </a:lnTo>
                <a:lnTo>
                  <a:pt x="752" y="560"/>
                </a:lnTo>
                <a:lnTo>
                  <a:pt x="760" y="554"/>
                </a:lnTo>
                <a:lnTo>
                  <a:pt x="769" y="546"/>
                </a:lnTo>
                <a:lnTo>
                  <a:pt x="776" y="539"/>
                </a:lnTo>
                <a:lnTo>
                  <a:pt x="782" y="529"/>
                </a:lnTo>
                <a:lnTo>
                  <a:pt x="787" y="520"/>
                </a:lnTo>
                <a:lnTo>
                  <a:pt x="792" y="508"/>
                </a:lnTo>
                <a:lnTo>
                  <a:pt x="796" y="498"/>
                </a:lnTo>
                <a:lnTo>
                  <a:pt x="799" y="485"/>
                </a:lnTo>
                <a:lnTo>
                  <a:pt x="801" y="473"/>
                </a:lnTo>
                <a:lnTo>
                  <a:pt x="815" y="356"/>
                </a:lnTo>
                <a:lnTo>
                  <a:pt x="685" y="356"/>
                </a:lnTo>
                <a:lnTo>
                  <a:pt x="671" y="479"/>
                </a:lnTo>
                <a:lnTo>
                  <a:pt x="667" y="489"/>
                </a:lnTo>
                <a:lnTo>
                  <a:pt x="662" y="496"/>
                </a:lnTo>
                <a:lnTo>
                  <a:pt x="655" y="500"/>
                </a:lnTo>
                <a:lnTo>
                  <a:pt x="646" y="502"/>
                </a:lnTo>
                <a:lnTo>
                  <a:pt x="641" y="502"/>
                </a:lnTo>
                <a:lnTo>
                  <a:pt x="636" y="500"/>
                </a:lnTo>
                <a:lnTo>
                  <a:pt x="632" y="498"/>
                </a:lnTo>
                <a:lnTo>
                  <a:pt x="630" y="495"/>
                </a:lnTo>
                <a:lnTo>
                  <a:pt x="629" y="491"/>
                </a:lnTo>
                <a:lnTo>
                  <a:pt x="627" y="485"/>
                </a:lnTo>
                <a:lnTo>
                  <a:pt x="627" y="479"/>
                </a:lnTo>
                <a:lnTo>
                  <a:pt x="627" y="473"/>
                </a:lnTo>
                <a:lnTo>
                  <a:pt x="643" y="337"/>
                </a:lnTo>
                <a:lnTo>
                  <a:pt x="817" y="337"/>
                </a:lnTo>
                <a:lnTo>
                  <a:pt x="843" y="117"/>
                </a:lnTo>
                <a:lnTo>
                  <a:pt x="845" y="98"/>
                </a:lnTo>
                <a:lnTo>
                  <a:pt x="843" y="79"/>
                </a:lnTo>
                <a:lnTo>
                  <a:pt x="840" y="63"/>
                </a:lnTo>
                <a:lnTo>
                  <a:pt x="833" y="50"/>
                </a:lnTo>
                <a:close/>
                <a:moveTo>
                  <a:pt x="695" y="90"/>
                </a:moveTo>
                <a:lnTo>
                  <a:pt x="701" y="90"/>
                </a:lnTo>
                <a:lnTo>
                  <a:pt x="704" y="92"/>
                </a:lnTo>
                <a:lnTo>
                  <a:pt x="708" y="94"/>
                </a:lnTo>
                <a:lnTo>
                  <a:pt x="711" y="98"/>
                </a:lnTo>
                <a:lnTo>
                  <a:pt x="713" y="102"/>
                </a:lnTo>
                <a:lnTo>
                  <a:pt x="713" y="106"/>
                </a:lnTo>
                <a:lnTo>
                  <a:pt x="715" y="111"/>
                </a:lnTo>
                <a:lnTo>
                  <a:pt x="713" y="119"/>
                </a:lnTo>
                <a:lnTo>
                  <a:pt x="699" y="252"/>
                </a:lnTo>
                <a:lnTo>
                  <a:pt x="653" y="252"/>
                </a:lnTo>
                <a:lnTo>
                  <a:pt x="669" y="119"/>
                </a:lnTo>
                <a:lnTo>
                  <a:pt x="671" y="108"/>
                </a:lnTo>
                <a:lnTo>
                  <a:pt x="674" y="100"/>
                </a:lnTo>
                <a:lnTo>
                  <a:pt x="680" y="94"/>
                </a:lnTo>
                <a:lnTo>
                  <a:pt x="687" y="92"/>
                </a:lnTo>
                <a:lnTo>
                  <a:pt x="695" y="90"/>
                </a:lnTo>
                <a:close/>
                <a:moveTo>
                  <a:pt x="1147" y="25"/>
                </a:moveTo>
                <a:lnTo>
                  <a:pt x="1128" y="13"/>
                </a:lnTo>
                <a:lnTo>
                  <a:pt x="1108" y="7"/>
                </a:lnTo>
                <a:lnTo>
                  <a:pt x="1089" y="2"/>
                </a:lnTo>
                <a:lnTo>
                  <a:pt x="1068" y="0"/>
                </a:lnTo>
                <a:lnTo>
                  <a:pt x="1052" y="2"/>
                </a:lnTo>
                <a:lnTo>
                  <a:pt x="1038" y="4"/>
                </a:lnTo>
                <a:lnTo>
                  <a:pt x="1024" y="7"/>
                </a:lnTo>
                <a:lnTo>
                  <a:pt x="1012" y="13"/>
                </a:lnTo>
                <a:lnTo>
                  <a:pt x="989" y="29"/>
                </a:lnTo>
                <a:lnTo>
                  <a:pt x="980" y="4"/>
                </a:lnTo>
                <a:lnTo>
                  <a:pt x="883" y="4"/>
                </a:lnTo>
                <a:lnTo>
                  <a:pt x="799" y="706"/>
                </a:lnTo>
                <a:lnTo>
                  <a:pt x="929" y="706"/>
                </a:lnTo>
                <a:lnTo>
                  <a:pt x="945" y="570"/>
                </a:lnTo>
                <a:lnTo>
                  <a:pt x="954" y="575"/>
                </a:lnTo>
                <a:lnTo>
                  <a:pt x="963" y="581"/>
                </a:lnTo>
                <a:lnTo>
                  <a:pt x="975" y="585"/>
                </a:lnTo>
                <a:lnTo>
                  <a:pt x="987" y="587"/>
                </a:lnTo>
                <a:lnTo>
                  <a:pt x="1024" y="589"/>
                </a:lnTo>
                <a:lnTo>
                  <a:pt x="1043" y="589"/>
                </a:lnTo>
                <a:lnTo>
                  <a:pt x="1061" y="585"/>
                </a:lnTo>
                <a:lnTo>
                  <a:pt x="1077" y="579"/>
                </a:lnTo>
                <a:lnTo>
                  <a:pt x="1093" y="570"/>
                </a:lnTo>
                <a:lnTo>
                  <a:pt x="1107" y="556"/>
                </a:lnTo>
                <a:lnTo>
                  <a:pt x="1115" y="543"/>
                </a:lnTo>
                <a:lnTo>
                  <a:pt x="1119" y="535"/>
                </a:lnTo>
                <a:lnTo>
                  <a:pt x="1122" y="527"/>
                </a:lnTo>
                <a:lnTo>
                  <a:pt x="1124" y="520"/>
                </a:lnTo>
                <a:lnTo>
                  <a:pt x="1126" y="510"/>
                </a:lnTo>
                <a:lnTo>
                  <a:pt x="1175" y="94"/>
                </a:lnTo>
                <a:lnTo>
                  <a:pt x="1177" y="84"/>
                </a:lnTo>
                <a:lnTo>
                  <a:pt x="1175" y="75"/>
                </a:lnTo>
                <a:lnTo>
                  <a:pt x="1175" y="65"/>
                </a:lnTo>
                <a:lnTo>
                  <a:pt x="1172" y="56"/>
                </a:lnTo>
                <a:lnTo>
                  <a:pt x="1168" y="48"/>
                </a:lnTo>
                <a:lnTo>
                  <a:pt x="1163" y="38"/>
                </a:lnTo>
                <a:lnTo>
                  <a:pt x="1156" y="32"/>
                </a:lnTo>
                <a:lnTo>
                  <a:pt x="1147" y="25"/>
                </a:lnTo>
                <a:close/>
                <a:moveTo>
                  <a:pt x="1008" y="94"/>
                </a:moveTo>
                <a:lnTo>
                  <a:pt x="1015" y="92"/>
                </a:lnTo>
                <a:lnTo>
                  <a:pt x="1024" y="90"/>
                </a:lnTo>
                <a:lnTo>
                  <a:pt x="1031" y="90"/>
                </a:lnTo>
                <a:lnTo>
                  <a:pt x="1035" y="92"/>
                </a:lnTo>
                <a:lnTo>
                  <a:pt x="1038" y="94"/>
                </a:lnTo>
                <a:lnTo>
                  <a:pt x="1042" y="96"/>
                </a:lnTo>
                <a:lnTo>
                  <a:pt x="1045" y="106"/>
                </a:lnTo>
                <a:lnTo>
                  <a:pt x="1045" y="117"/>
                </a:lnTo>
                <a:lnTo>
                  <a:pt x="1001" y="473"/>
                </a:lnTo>
                <a:lnTo>
                  <a:pt x="999" y="481"/>
                </a:lnTo>
                <a:lnTo>
                  <a:pt x="998" y="487"/>
                </a:lnTo>
                <a:lnTo>
                  <a:pt x="994" y="493"/>
                </a:lnTo>
                <a:lnTo>
                  <a:pt x="991" y="496"/>
                </a:lnTo>
                <a:lnTo>
                  <a:pt x="985" y="500"/>
                </a:lnTo>
                <a:lnTo>
                  <a:pt x="977" y="502"/>
                </a:lnTo>
                <a:lnTo>
                  <a:pt x="971" y="500"/>
                </a:lnTo>
                <a:lnTo>
                  <a:pt x="966" y="500"/>
                </a:lnTo>
                <a:lnTo>
                  <a:pt x="963" y="498"/>
                </a:lnTo>
                <a:lnTo>
                  <a:pt x="959" y="495"/>
                </a:lnTo>
                <a:lnTo>
                  <a:pt x="957" y="491"/>
                </a:lnTo>
                <a:lnTo>
                  <a:pt x="955" y="487"/>
                </a:lnTo>
                <a:lnTo>
                  <a:pt x="955" y="481"/>
                </a:lnTo>
                <a:lnTo>
                  <a:pt x="957" y="475"/>
                </a:lnTo>
                <a:lnTo>
                  <a:pt x="999" y="117"/>
                </a:lnTo>
                <a:lnTo>
                  <a:pt x="999" y="109"/>
                </a:lnTo>
                <a:lnTo>
                  <a:pt x="1001" y="104"/>
                </a:lnTo>
                <a:lnTo>
                  <a:pt x="1005" y="98"/>
                </a:lnTo>
                <a:lnTo>
                  <a:pt x="1008" y="9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eaLnBrk="0" hangingPunct="0">
              <a:defRPr/>
            </a:pPr>
            <a:endParaRPr lang="en-US"/>
          </a:p>
        </p:txBody>
      </p:sp>
      <p:sp>
        <p:nvSpPr>
          <p:cNvPr id="3176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24900" y="6427788"/>
            <a:ext cx="342900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900" b="1">
                <a:solidFill>
                  <a:srgbClr val="AEAEAE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fld id="{BC8C9257-D951-430A-AEE8-45716A964F9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2" r:id="rId2"/>
    <p:sldLayoutId id="2147483991" r:id="rId3"/>
    <p:sldLayoutId id="2147483990" r:id="rId4"/>
    <p:sldLayoutId id="2147483989" r:id="rId5"/>
    <p:sldLayoutId id="2147483988" r:id="rId6"/>
    <p:sldLayoutId id="2147483987" r:id="rId7"/>
    <p:sldLayoutId id="2147483986" r:id="rId8"/>
    <p:sldLayoutId id="2147483985" r:id="rId9"/>
    <p:sldLayoutId id="2147483984" r:id="rId10"/>
    <p:sldLayoutId id="21474839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  <p:txStyles>
    <p:title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defRPr sz="2000">
          <a:solidFill>
            <a:srgbClr val="002B78"/>
          </a:solidFill>
          <a:latin typeface="+mj-lt"/>
          <a:ea typeface="+mj-ea"/>
          <a:cs typeface="+mj-cs"/>
        </a:defRPr>
      </a:lvl1pPr>
      <a:lvl2pPr marL="342900" indent="-342900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defRPr sz="2000">
          <a:solidFill>
            <a:srgbClr val="002B78"/>
          </a:solidFill>
          <a:latin typeface="Tahoma" pitchFamily="34" charset="0"/>
        </a:defRPr>
      </a:lvl2pPr>
      <a:lvl3pPr marL="342900" indent="-342900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defRPr sz="2000">
          <a:solidFill>
            <a:srgbClr val="002B78"/>
          </a:solidFill>
          <a:latin typeface="Tahoma" pitchFamily="34" charset="0"/>
        </a:defRPr>
      </a:lvl3pPr>
      <a:lvl4pPr marL="342900" indent="-342900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defRPr sz="2000">
          <a:solidFill>
            <a:srgbClr val="002B78"/>
          </a:solidFill>
          <a:latin typeface="Tahoma" pitchFamily="34" charset="0"/>
        </a:defRPr>
      </a:lvl4pPr>
      <a:lvl5pPr marL="342900" indent="-342900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defRPr sz="2000">
          <a:solidFill>
            <a:srgbClr val="002B78"/>
          </a:solidFill>
          <a:latin typeface="Tahoma" pitchFamily="34" charset="0"/>
        </a:defRPr>
      </a:lvl5pPr>
      <a:lvl6pPr marL="800100" indent="-342900" algn="l" rtl="0" fontAlgn="base">
        <a:spcBef>
          <a:spcPct val="20000"/>
        </a:spcBef>
        <a:spcAft>
          <a:spcPct val="0"/>
        </a:spcAft>
        <a:buFont typeface="Verdana" pitchFamily="34" charset="0"/>
        <a:defRPr sz="2000">
          <a:solidFill>
            <a:srgbClr val="002B78"/>
          </a:solidFill>
          <a:latin typeface="Tahoma" pitchFamily="34" charset="0"/>
        </a:defRPr>
      </a:lvl6pPr>
      <a:lvl7pPr marL="1257300" indent="-342900" algn="l" rtl="0" fontAlgn="base">
        <a:spcBef>
          <a:spcPct val="20000"/>
        </a:spcBef>
        <a:spcAft>
          <a:spcPct val="0"/>
        </a:spcAft>
        <a:buFont typeface="Verdana" pitchFamily="34" charset="0"/>
        <a:defRPr sz="2000">
          <a:solidFill>
            <a:srgbClr val="002B78"/>
          </a:solidFill>
          <a:latin typeface="Tahoma" pitchFamily="34" charset="0"/>
        </a:defRPr>
      </a:lvl7pPr>
      <a:lvl8pPr marL="1714500" indent="-342900" algn="l" rtl="0" fontAlgn="base">
        <a:spcBef>
          <a:spcPct val="20000"/>
        </a:spcBef>
        <a:spcAft>
          <a:spcPct val="0"/>
        </a:spcAft>
        <a:buFont typeface="Verdana" pitchFamily="34" charset="0"/>
        <a:defRPr sz="2000">
          <a:solidFill>
            <a:srgbClr val="002B78"/>
          </a:solidFill>
          <a:latin typeface="Tahoma" pitchFamily="34" charset="0"/>
        </a:defRPr>
      </a:lvl8pPr>
      <a:lvl9pPr marL="2171700" indent="-342900" algn="l" rtl="0" fontAlgn="base">
        <a:spcBef>
          <a:spcPct val="20000"/>
        </a:spcBef>
        <a:spcAft>
          <a:spcPct val="0"/>
        </a:spcAft>
        <a:buFont typeface="Verdana" pitchFamily="34" charset="0"/>
        <a:defRPr sz="2000">
          <a:solidFill>
            <a:srgbClr val="002B78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buChar char="•"/>
        <a:defRPr sz="3200" b="1">
          <a:solidFill>
            <a:srgbClr val="002B78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2B78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3075" y="2319688"/>
            <a:ext cx="8213725" cy="3858862"/>
          </a:xfrm>
        </p:spPr>
        <p:txBody>
          <a:bodyPr/>
          <a:lstStyle/>
          <a:p>
            <a:pPr marL="0" indent="0" algn="ctr">
              <a:buNone/>
            </a:pPr>
            <a:r>
              <a:rPr lang="ru-RU" sz="4400" dirty="0" smtClean="0"/>
              <a:t>ТЕМА:</a:t>
            </a:r>
          </a:p>
          <a:p>
            <a:pPr marL="0" indent="0" algn="ctr">
              <a:buNone/>
            </a:pPr>
            <a:r>
              <a:rPr lang="ru-RU" sz="4400" dirty="0" smtClean="0"/>
              <a:t>Диаграмма деятельности.</a:t>
            </a:r>
            <a:endParaRPr lang="ru-RU" sz="4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E8B2DF-DB3D-4FC6-B48B-86DBC6513EDA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679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0793D52-77F1-4A98-8B80-AF28915065C8}" type="slidenum">
              <a:rPr lang="ru-RU" smtClean="0"/>
              <a:pPr/>
              <a:t>2</a:t>
            </a:fld>
            <a:endParaRPr lang="ru-RU" dirty="0" smtClean="0"/>
          </a:p>
        </p:txBody>
      </p:sp>
      <p:sp>
        <p:nvSpPr>
          <p:cNvPr id="15" name="AutoShape 53"/>
          <p:cNvSpPr>
            <a:spLocks noChangeArrowheads="1"/>
          </p:cNvSpPr>
          <p:nvPr/>
        </p:nvSpPr>
        <p:spPr bwMode="auto">
          <a:xfrm>
            <a:off x="1919288" y="2368550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002C78"/>
              </a:gs>
              <a:gs pos="100000">
                <a:srgbClr val="7EA6E8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Примеры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Oval 54"/>
          <p:cNvSpPr>
            <a:spLocks noChangeArrowheads="1"/>
          </p:cNvSpPr>
          <p:nvPr/>
        </p:nvSpPr>
        <p:spPr bwMode="auto">
          <a:xfrm>
            <a:off x="2009775" y="2436813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4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7" name="AutoShape 55"/>
          <p:cNvSpPr>
            <a:spLocks noChangeArrowheads="1"/>
          </p:cNvSpPr>
          <p:nvPr/>
        </p:nvSpPr>
        <p:spPr bwMode="auto">
          <a:xfrm>
            <a:off x="1919288" y="1846263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002C78"/>
              </a:gs>
              <a:gs pos="100000">
                <a:srgbClr val="7EA6E8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Диаграмма </a:t>
            </a:r>
            <a:r>
              <a:rPr lang="ru-RU" dirty="0" err="1" smtClean="0">
                <a:solidFill>
                  <a:schemeClr val="bg1"/>
                </a:solidFill>
              </a:rPr>
              <a:t>бизнес-анализа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Oval 56"/>
          <p:cNvSpPr>
            <a:spLocks noChangeArrowheads="1"/>
          </p:cNvSpPr>
          <p:nvPr/>
        </p:nvSpPr>
        <p:spPr bwMode="auto">
          <a:xfrm>
            <a:off x="2009775" y="1914525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3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9" name="AutoShape 57"/>
          <p:cNvSpPr>
            <a:spLocks noChangeArrowheads="1"/>
          </p:cNvSpPr>
          <p:nvPr/>
        </p:nvSpPr>
        <p:spPr bwMode="auto">
          <a:xfrm>
            <a:off x="1919288" y="1323975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002C78"/>
              </a:gs>
              <a:gs pos="100000">
                <a:srgbClr val="7EA6E8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Элементы диаграммы деятельности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Oval 58"/>
          <p:cNvSpPr>
            <a:spLocks noChangeArrowheads="1"/>
          </p:cNvSpPr>
          <p:nvPr/>
        </p:nvSpPr>
        <p:spPr bwMode="auto">
          <a:xfrm>
            <a:off x="2009775" y="1392238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2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21" name="AutoShape 59"/>
          <p:cNvSpPr>
            <a:spLocks noChangeArrowheads="1"/>
          </p:cNvSpPr>
          <p:nvPr/>
        </p:nvSpPr>
        <p:spPr bwMode="auto">
          <a:xfrm>
            <a:off x="1919288" y="801688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002C78"/>
              </a:gs>
              <a:gs pos="100000">
                <a:srgbClr val="7EA6E8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Диаграмма деятельности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2" name="Oval 60"/>
          <p:cNvSpPr>
            <a:spLocks noChangeArrowheads="1"/>
          </p:cNvSpPr>
          <p:nvPr/>
        </p:nvSpPr>
        <p:spPr bwMode="auto">
          <a:xfrm>
            <a:off x="2009775" y="869950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1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9A5E8BF-EE0B-4EFD-B709-4BC4CD11EEF2}" type="slidenum">
              <a:rPr lang="ru-RU" smtClean="0"/>
              <a:pPr/>
              <a:t>3</a:t>
            </a:fld>
            <a:endParaRPr lang="ru-RU" dirty="0" smtClean="0"/>
          </a:p>
        </p:txBody>
      </p:sp>
      <p:sp>
        <p:nvSpPr>
          <p:cNvPr id="9" name="AutoShape 53"/>
          <p:cNvSpPr>
            <a:spLocks noChangeArrowheads="1"/>
          </p:cNvSpPr>
          <p:nvPr/>
        </p:nvSpPr>
        <p:spPr bwMode="auto">
          <a:xfrm>
            <a:off x="1919288" y="2368550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2"/>
                </a:solidFill>
              </a:rPr>
              <a:t>Примеры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10" name="Oval 54"/>
          <p:cNvSpPr>
            <a:spLocks noChangeArrowheads="1"/>
          </p:cNvSpPr>
          <p:nvPr/>
        </p:nvSpPr>
        <p:spPr bwMode="auto">
          <a:xfrm>
            <a:off x="2009775" y="2436813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4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1" name="AutoShape 55"/>
          <p:cNvSpPr>
            <a:spLocks noChangeArrowheads="1"/>
          </p:cNvSpPr>
          <p:nvPr/>
        </p:nvSpPr>
        <p:spPr bwMode="auto">
          <a:xfrm>
            <a:off x="1919288" y="1846263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2"/>
                </a:solidFill>
              </a:rPr>
              <a:t>Диаграмма </a:t>
            </a:r>
            <a:r>
              <a:rPr lang="ru-RU" dirty="0" err="1" smtClean="0">
                <a:solidFill>
                  <a:schemeClr val="bg2"/>
                </a:solidFill>
              </a:rPr>
              <a:t>бизнес-анализа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12" name="Oval 56"/>
          <p:cNvSpPr>
            <a:spLocks noChangeArrowheads="1"/>
          </p:cNvSpPr>
          <p:nvPr/>
        </p:nvSpPr>
        <p:spPr bwMode="auto">
          <a:xfrm>
            <a:off x="2009775" y="1914525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3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3" name="AutoShape 57"/>
          <p:cNvSpPr>
            <a:spLocks noChangeArrowheads="1"/>
          </p:cNvSpPr>
          <p:nvPr/>
        </p:nvSpPr>
        <p:spPr bwMode="auto">
          <a:xfrm>
            <a:off x="1919288" y="1323975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2"/>
                </a:solidFill>
              </a:rPr>
              <a:t>Элементы диаграммы деятельности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14" name="Oval 58"/>
          <p:cNvSpPr>
            <a:spLocks noChangeArrowheads="1"/>
          </p:cNvSpPr>
          <p:nvPr/>
        </p:nvSpPr>
        <p:spPr bwMode="auto">
          <a:xfrm>
            <a:off x="2009775" y="1392238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2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5" name="AutoShape 59"/>
          <p:cNvSpPr>
            <a:spLocks noChangeArrowheads="1"/>
          </p:cNvSpPr>
          <p:nvPr/>
        </p:nvSpPr>
        <p:spPr bwMode="auto">
          <a:xfrm>
            <a:off x="1919288" y="801688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002C78"/>
              </a:gs>
              <a:gs pos="100000">
                <a:srgbClr val="7EA6E8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Диаграмма деятельности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Oval 60"/>
          <p:cNvSpPr>
            <a:spLocks noChangeArrowheads="1"/>
          </p:cNvSpPr>
          <p:nvPr/>
        </p:nvSpPr>
        <p:spPr bwMode="auto">
          <a:xfrm>
            <a:off x="2009775" y="869950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1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3"/>
          <p:cNvSpPr txBox="1">
            <a:spLocks noGrp="1"/>
          </p:cNvSpPr>
          <p:nvPr/>
        </p:nvSpPr>
        <p:spPr bwMode="auto">
          <a:xfrm>
            <a:off x="77788" y="6427788"/>
            <a:ext cx="342900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fld id="{4757BDA2-3906-4FB0-8D36-42C2A7A8EE1F}" type="slidenum">
              <a:rPr lang="ru-RU" sz="900" b="1">
                <a:solidFill>
                  <a:srgbClr val="AEAEAE"/>
                </a:solidFill>
                <a:latin typeface="Verdana" pitchFamily="34" charset="0"/>
              </a:rPr>
              <a:pPr algn="ctr"/>
              <a:t>4</a:t>
            </a:fld>
            <a:endParaRPr lang="ru-RU" sz="900" b="1" dirty="0">
              <a:solidFill>
                <a:srgbClr val="AEAEAE"/>
              </a:solidFill>
              <a:latin typeface="Verdan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21200" y="1080000"/>
            <a:ext cx="8213725" cy="5078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/>
            <a:r>
              <a:rPr lang="ru-RU" kern="0" dirty="0" smtClean="0">
                <a:solidFill>
                  <a:srgbClr val="002B78"/>
                </a:solidFill>
              </a:rPr>
              <a:t>Для моделирования динамических аспектов системы используются </a:t>
            </a:r>
            <a:r>
              <a:rPr lang="ru-RU" b="1" kern="0" dirty="0" smtClean="0">
                <a:solidFill>
                  <a:srgbClr val="002B78"/>
                </a:solidFill>
              </a:rPr>
              <a:t>диаграммы взаимодействий</a:t>
            </a:r>
            <a:r>
              <a:rPr lang="ru-RU" kern="0" dirty="0" smtClean="0">
                <a:solidFill>
                  <a:srgbClr val="002B78"/>
                </a:solidFill>
              </a:rPr>
              <a:t> и </a:t>
            </a:r>
            <a:r>
              <a:rPr lang="ru-RU" b="1" kern="0" dirty="0" smtClean="0">
                <a:solidFill>
                  <a:srgbClr val="002B78"/>
                </a:solidFill>
              </a:rPr>
              <a:t>автоматы</a:t>
            </a:r>
            <a:r>
              <a:rPr lang="ru-RU" kern="0" dirty="0" smtClean="0">
                <a:solidFill>
                  <a:srgbClr val="002B78"/>
                </a:solidFill>
              </a:rPr>
              <a:t>.</a:t>
            </a:r>
          </a:p>
          <a:p>
            <a:pPr algn="just"/>
            <a:endParaRPr lang="ru-RU" b="1" kern="0" dirty="0" smtClean="0">
              <a:solidFill>
                <a:srgbClr val="002B78"/>
              </a:solidFill>
            </a:endParaRPr>
          </a:p>
          <a:p>
            <a:pPr algn="just"/>
            <a:r>
              <a:rPr lang="ru-RU" b="1" kern="0" dirty="0" smtClean="0">
                <a:solidFill>
                  <a:srgbClr val="002B78"/>
                </a:solidFill>
              </a:rPr>
              <a:t>Диаграммы взаимодействий</a:t>
            </a:r>
            <a:r>
              <a:rPr lang="ru-RU" kern="0" dirty="0" smtClean="0">
                <a:solidFill>
                  <a:srgbClr val="002B78"/>
                </a:solidFill>
              </a:rPr>
              <a:t> моделируют поведение </a:t>
            </a:r>
            <a:r>
              <a:rPr lang="ru-RU" b="1" kern="0" dirty="0" smtClean="0">
                <a:solidFill>
                  <a:srgbClr val="002B78"/>
                </a:solidFill>
              </a:rPr>
              <a:t>сообщества</a:t>
            </a:r>
            <a:r>
              <a:rPr lang="ru-RU" kern="0" dirty="0" smtClean="0">
                <a:solidFill>
                  <a:srgbClr val="002B78"/>
                </a:solidFill>
              </a:rPr>
              <a:t> совместно работающих </a:t>
            </a:r>
            <a:r>
              <a:rPr lang="ru-RU" b="1" kern="0" dirty="0" smtClean="0">
                <a:solidFill>
                  <a:srgbClr val="002B78"/>
                </a:solidFill>
              </a:rPr>
              <a:t>объектов</a:t>
            </a:r>
            <a:r>
              <a:rPr lang="ru-RU" kern="0" dirty="0" smtClean="0">
                <a:solidFill>
                  <a:srgbClr val="002B78"/>
                </a:solidFill>
              </a:rPr>
              <a:t>.</a:t>
            </a:r>
          </a:p>
          <a:p>
            <a:pPr algn="just"/>
            <a:r>
              <a:rPr lang="ru-RU" b="1" kern="0" dirty="0" smtClean="0">
                <a:solidFill>
                  <a:srgbClr val="002B78"/>
                </a:solidFill>
              </a:rPr>
              <a:t>Автоматы</a:t>
            </a:r>
            <a:r>
              <a:rPr lang="ru-RU" kern="0" dirty="0" smtClean="0">
                <a:solidFill>
                  <a:srgbClr val="002B78"/>
                </a:solidFill>
              </a:rPr>
              <a:t> моделируют поведение </a:t>
            </a:r>
            <a:r>
              <a:rPr lang="ru-RU" b="1" kern="0" dirty="0" smtClean="0">
                <a:solidFill>
                  <a:srgbClr val="002B78"/>
                </a:solidFill>
              </a:rPr>
              <a:t>отдельного объекта</a:t>
            </a:r>
            <a:r>
              <a:rPr lang="ru-RU" kern="0" dirty="0" smtClean="0">
                <a:solidFill>
                  <a:srgbClr val="002B78"/>
                </a:solidFill>
              </a:rPr>
              <a:t>.</a:t>
            </a:r>
          </a:p>
          <a:p>
            <a:pPr algn="just"/>
            <a:endParaRPr lang="ru-RU" kern="0" dirty="0" smtClean="0">
              <a:solidFill>
                <a:srgbClr val="002B78"/>
              </a:solidFill>
            </a:endParaRPr>
          </a:p>
          <a:p>
            <a:pPr algn="just"/>
            <a:r>
              <a:rPr lang="ru-RU" kern="0" dirty="0" smtClean="0">
                <a:solidFill>
                  <a:srgbClr val="002B78"/>
                </a:solidFill>
              </a:rPr>
              <a:t>Автомат может показывать:</a:t>
            </a:r>
          </a:p>
          <a:p>
            <a:pPr algn="just"/>
            <a:endParaRPr lang="ru-RU" kern="0" dirty="0" smtClean="0">
              <a:solidFill>
                <a:srgbClr val="002B78"/>
              </a:solidFill>
            </a:endParaRPr>
          </a:p>
          <a:p>
            <a:pPr marL="180000" indent="-180000" algn="just">
              <a:buFont typeface="Tahoma" pitchFamily="34" charset="0"/>
              <a:buChar char="•"/>
            </a:pPr>
            <a:r>
              <a:rPr lang="ru-RU" kern="0" dirty="0" smtClean="0">
                <a:solidFill>
                  <a:srgbClr val="002B78"/>
                </a:solidFill>
              </a:rPr>
              <a:t>передачу потока управления от одного состояния объекта к другому (</a:t>
            </a:r>
            <a:r>
              <a:rPr lang="ru-RU" b="1" kern="0" dirty="0" smtClean="0">
                <a:solidFill>
                  <a:srgbClr val="002B78"/>
                </a:solidFill>
              </a:rPr>
              <a:t>диаграмма состояний</a:t>
            </a:r>
            <a:r>
              <a:rPr lang="ru-RU" kern="0" dirty="0" smtClean="0">
                <a:solidFill>
                  <a:srgbClr val="002B78"/>
                </a:solidFill>
              </a:rPr>
              <a:t>)</a:t>
            </a:r>
          </a:p>
          <a:p>
            <a:pPr marL="180000" indent="-180000" algn="just">
              <a:buFont typeface="Tahoma" pitchFamily="34" charset="0"/>
              <a:buChar char="•"/>
            </a:pPr>
            <a:endParaRPr lang="en-US" kern="0" dirty="0" smtClean="0">
              <a:solidFill>
                <a:srgbClr val="002B78"/>
              </a:solidFill>
            </a:endParaRPr>
          </a:p>
          <a:p>
            <a:pPr marL="180000" indent="-180000" algn="just">
              <a:buFont typeface="Tahoma" pitchFamily="34" charset="0"/>
              <a:buChar char="•"/>
            </a:pPr>
            <a:r>
              <a:rPr lang="ru-RU" kern="0" dirty="0" smtClean="0">
                <a:solidFill>
                  <a:srgbClr val="002B78"/>
                </a:solidFill>
              </a:rPr>
              <a:t>передачу потока управления от одной деятельности к другой (</a:t>
            </a:r>
            <a:r>
              <a:rPr lang="ru-RU" b="1" kern="0" dirty="0" smtClean="0">
                <a:solidFill>
                  <a:srgbClr val="002B78"/>
                </a:solidFill>
              </a:rPr>
              <a:t>диаграмма деятельности</a:t>
            </a:r>
            <a:r>
              <a:rPr lang="ru-RU" kern="0" dirty="0" smtClean="0">
                <a:solidFill>
                  <a:srgbClr val="002B78"/>
                </a:solidFill>
              </a:rPr>
              <a:t>)</a:t>
            </a:r>
          </a:p>
          <a:p>
            <a:pPr marL="180000" indent="-180000" algn="just">
              <a:buFont typeface="Tahoma" pitchFamily="34" charset="0"/>
              <a:buChar char="•"/>
            </a:pPr>
            <a:endParaRPr lang="ru-RU" kern="0" dirty="0" smtClean="0">
              <a:solidFill>
                <a:srgbClr val="002B78"/>
              </a:solidFill>
            </a:endParaRPr>
          </a:p>
          <a:p>
            <a:pPr algn="just"/>
            <a:r>
              <a:rPr lang="ru-RU" b="1" kern="0" dirty="0" smtClean="0">
                <a:solidFill>
                  <a:srgbClr val="FF0000"/>
                </a:solidFill>
              </a:rPr>
              <a:t>Диаграмма деятельности (</a:t>
            </a:r>
            <a:r>
              <a:rPr lang="en-US" b="1" kern="0" dirty="0" smtClean="0">
                <a:solidFill>
                  <a:srgbClr val="FF0000"/>
                </a:solidFill>
              </a:rPr>
              <a:t>activity diagram</a:t>
            </a:r>
            <a:r>
              <a:rPr lang="ru-RU" b="1" kern="0" dirty="0" smtClean="0">
                <a:solidFill>
                  <a:srgbClr val="FF0000"/>
                </a:solidFill>
              </a:rPr>
              <a:t>)</a:t>
            </a:r>
            <a:r>
              <a:rPr lang="ru-RU" b="1" kern="0" dirty="0" smtClean="0">
                <a:solidFill>
                  <a:srgbClr val="002B78"/>
                </a:solidFill>
              </a:rPr>
              <a:t> — это диаграмма,</a:t>
            </a:r>
            <a:r>
              <a:rPr lang="en-US" b="1" kern="0" dirty="0" smtClean="0">
                <a:solidFill>
                  <a:srgbClr val="002B78"/>
                </a:solidFill>
              </a:rPr>
              <a:t> </a:t>
            </a:r>
            <a:r>
              <a:rPr lang="ru-RU" b="1" kern="0" dirty="0" smtClean="0">
                <a:solidFill>
                  <a:srgbClr val="002B78"/>
                </a:solidFill>
              </a:rPr>
              <a:t>которая показывает поток переходов от одной деятельности к другой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2913" y="157163"/>
            <a:ext cx="8226425" cy="3937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Диаграмма деятельности</a:t>
            </a:r>
            <a:endParaRPr kumimoji="0" lang="ru-RU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3"/>
          <p:cNvSpPr txBox="1">
            <a:spLocks noGrp="1"/>
          </p:cNvSpPr>
          <p:nvPr/>
        </p:nvSpPr>
        <p:spPr bwMode="auto">
          <a:xfrm>
            <a:off x="77788" y="6427788"/>
            <a:ext cx="342900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fld id="{4757BDA2-3906-4FB0-8D36-42C2A7A8EE1F}" type="slidenum">
              <a:rPr lang="ru-RU" sz="900" b="1">
                <a:solidFill>
                  <a:srgbClr val="AEAEAE"/>
                </a:solidFill>
                <a:latin typeface="Verdana" pitchFamily="34" charset="0"/>
              </a:rPr>
              <a:pPr algn="ctr"/>
              <a:t>5</a:t>
            </a:fld>
            <a:endParaRPr lang="ru-RU" sz="900" b="1">
              <a:solidFill>
                <a:srgbClr val="AEAEAE"/>
              </a:solidFill>
              <a:latin typeface="Verdana" pitchFamily="34" charset="0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dirty="0" smtClean="0"/>
              <a:t>Диаграмма деятельности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1200" y="1080000"/>
            <a:ext cx="8213725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0000" marR="0" lvl="0" indent="-1800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Verdana" pitchFamily="34" charset="0"/>
              <a:buNone/>
              <a:tabLst/>
              <a:defRPr/>
            </a:pPr>
            <a:r>
              <a:rPr kumimoji="0" lang="ru-RU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2B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Назначение диаграммы деятельности</a:t>
            </a:r>
          </a:p>
          <a:p>
            <a:pPr marL="180000" marR="0" lvl="0" indent="-1800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Verdana" pitchFamily="34" charset="0"/>
              <a:buNone/>
              <a:tabLst/>
              <a:defRPr/>
            </a:pPr>
            <a:endParaRPr kumimoji="0" lang="ru-RU" sz="1800" i="0" u="none" strike="noStrike" kern="0" cap="none" spc="0" normalizeH="0" baseline="0" noProof="0" dirty="0" smtClean="0">
              <a:ln>
                <a:noFill/>
              </a:ln>
              <a:solidFill>
                <a:srgbClr val="002B7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 algn="just" eaLnBrk="0" hangingPunct="0">
              <a:spcBef>
                <a:spcPts val="0"/>
              </a:spcBef>
              <a:defRPr/>
            </a:pPr>
            <a:r>
              <a:rPr lang="ru-RU" kern="0" dirty="0" smtClean="0">
                <a:solidFill>
                  <a:srgbClr val="002B78"/>
                </a:solidFill>
              </a:rPr>
              <a:t>Диаграмма деятельности предназначена для моделирования динамических аспектов поведения системы </a:t>
            </a:r>
          </a:p>
          <a:p>
            <a:pPr lvl="0" algn="just" eaLnBrk="0" hangingPunct="0">
              <a:spcBef>
                <a:spcPts val="0"/>
              </a:spcBef>
              <a:defRPr/>
            </a:pPr>
            <a:endParaRPr lang="ru-RU" kern="0" dirty="0" smtClean="0">
              <a:solidFill>
                <a:srgbClr val="002B78"/>
              </a:solidFill>
            </a:endParaRPr>
          </a:p>
          <a:p>
            <a:pPr lvl="0" algn="just" eaLnBrk="0" hangingPunct="0">
              <a:spcBef>
                <a:spcPts val="0"/>
              </a:spcBef>
              <a:defRPr/>
            </a:pPr>
            <a:r>
              <a:rPr lang="ru-RU" kern="0" dirty="0" smtClean="0">
                <a:solidFill>
                  <a:srgbClr val="002B78"/>
                </a:solidFill>
              </a:rPr>
              <a:t>Диаграмма деятельности описывает последовательность выполнения операций различными элементами, входящими в состав системы, во времени и показывает как поток управления переходит от одной деятельности к другой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Диаграмма деятельности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544B5-764C-4FA2-8719-293D89E6B213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65138" y="1080000"/>
            <a:ext cx="8213725" cy="2677656"/>
          </a:xfrm>
        </p:spPr>
        <p:txBody>
          <a:bodyPr>
            <a:spAutoFit/>
          </a:bodyPr>
          <a:lstStyle/>
          <a:p>
            <a:pPr marL="0" indent="0">
              <a:spcBef>
                <a:spcPts val="0"/>
              </a:spcBef>
              <a:buFont typeface="Georgia" pitchFamily="18" charset="0"/>
              <a:buNone/>
            </a:pPr>
            <a:r>
              <a:rPr lang="ru-RU" sz="2400" dirty="0" smtClean="0"/>
              <a:t>Диаграмма деятельности может содержать</a:t>
            </a:r>
          </a:p>
          <a:p>
            <a:pPr marL="0" indent="0">
              <a:spcBef>
                <a:spcPts val="0"/>
              </a:spcBef>
              <a:buFont typeface="Georgia" pitchFamily="18" charset="0"/>
              <a:buNone/>
            </a:pPr>
            <a:endParaRPr lang="ru-RU" sz="2400" dirty="0" smtClean="0"/>
          </a:p>
          <a:p>
            <a:pPr marL="360000" indent="-360000" algn="just">
              <a:spcBef>
                <a:spcPts val="0"/>
              </a:spcBef>
            </a:pPr>
            <a:r>
              <a:rPr lang="ru-RU" sz="2400" dirty="0" smtClean="0"/>
              <a:t>Состояния деятельности</a:t>
            </a:r>
          </a:p>
          <a:p>
            <a:pPr marL="360000" indent="-360000" algn="just">
              <a:spcBef>
                <a:spcPts val="0"/>
              </a:spcBef>
            </a:pPr>
            <a:endParaRPr lang="ru-RU" sz="2400" dirty="0" smtClean="0"/>
          </a:p>
          <a:p>
            <a:pPr marL="360000" indent="-360000" algn="just">
              <a:spcBef>
                <a:spcPts val="0"/>
              </a:spcBef>
            </a:pPr>
            <a:r>
              <a:rPr lang="ru-RU" sz="2400" dirty="0" smtClean="0"/>
              <a:t>Переходы</a:t>
            </a:r>
          </a:p>
          <a:p>
            <a:pPr marL="360000" indent="-360000" algn="just">
              <a:spcBef>
                <a:spcPts val="0"/>
              </a:spcBef>
            </a:pPr>
            <a:endParaRPr lang="ru-RU" sz="2400" dirty="0" smtClean="0"/>
          </a:p>
          <a:p>
            <a:pPr marL="360000" indent="-360000" algn="just">
              <a:spcBef>
                <a:spcPts val="0"/>
              </a:spcBef>
            </a:pPr>
            <a:r>
              <a:rPr lang="ru-RU" sz="2400" dirty="0" smtClean="0"/>
              <a:t>Объекты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9A5E8BF-EE0B-4EFD-B709-4BC4CD11EEF2}" type="slidenum">
              <a:rPr lang="ru-RU" smtClean="0"/>
              <a:pPr/>
              <a:t>7</a:t>
            </a:fld>
            <a:endParaRPr lang="ru-RU" dirty="0" smtClean="0"/>
          </a:p>
        </p:txBody>
      </p:sp>
      <p:sp>
        <p:nvSpPr>
          <p:cNvPr id="9" name="AutoShape 53"/>
          <p:cNvSpPr>
            <a:spLocks noChangeArrowheads="1"/>
          </p:cNvSpPr>
          <p:nvPr/>
        </p:nvSpPr>
        <p:spPr bwMode="auto">
          <a:xfrm>
            <a:off x="1919288" y="2368550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2"/>
                </a:solidFill>
              </a:rPr>
              <a:t>Примеры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10" name="Oval 54"/>
          <p:cNvSpPr>
            <a:spLocks noChangeArrowheads="1"/>
          </p:cNvSpPr>
          <p:nvPr/>
        </p:nvSpPr>
        <p:spPr bwMode="auto">
          <a:xfrm>
            <a:off x="2009775" y="2436813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4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1" name="AutoShape 55"/>
          <p:cNvSpPr>
            <a:spLocks noChangeArrowheads="1"/>
          </p:cNvSpPr>
          <p:nvPr/>
        </p:nvSpPr>
        <p:spPr bwMode="auto">
          <a:xfrm>
            <a:off x="1919288" y="1846263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2"/>
                </a:solidFill>
              </a:rPr>
              <a:t>Диаграмма </a:t>
            </a:r>
            <a:r>
              <a:rPr lang="ru-RU" dirty="0" err="1" smtClean="0">
                <a:solidFill>
                  <a:schemeClr val="bg2"/>
                </a:solidFill>
              </a:rPr>
              <a:t>бизнес-анализа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12" name="Oval 56"/>
          <p:cNvSpPr>
            <a:spLocks noChangeArrowheads="1"/>
          </p:cNvSpPr>
          <p:nvPr/>
        </p:nvSpPr>
        <p:spPr bwMode="auto">
          <a:xfrm>
            <a:off x="2009775" y="1914525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3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3" name="AutoShape 57"/>
          <p:cNvSpPr>
            <a:spLocks noChangeArrowheads="1"/>
          </p:cNvSpPr>
          <p:nvPr/>
        </p:nvSpPr>
        <p:spPr bwMode="auto">
          <a:xfrm>
            <a:off x="1919288" y="1323975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002C78"/>
              </a:gs>
              <a:gs pos="100000">
                <a:srgbClr val="7EA6E8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Элементы диаграммы деятельности</a:t>
            </a:r>
          </a:p>
        </p:txBody>
      </p:sp>
      <p:sp>
        <p:nvSpPr>
          <p:cNvPr id="14" name="Oval 58"/>
          <p:cNvSpPr>
            <a:spLocks noChangeArrowheads="1"/>
          </p:cNvSpPr>
          <p:nvPr/>
        </p:nvSpPr>
        <p:spPr bwMode="auto">
          <a:xfrm>
            <a:off x="2009775" y="1392238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2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5" name="AutoShape 59"/>
          <p:cNvSpPr>
            <a:spLocks noChangeArrowheads="1"/>
          </p:cNvSpPr>
          <p:nvPr/>
        </p:nvSpPr>
        <p:spPr bwMode="auto">
          <a:xfrm>
            <a:off x="1919288" y="801688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2"/>
                </a:solidFill>
              </a:rPr>
              <a:t>Диаграмма деятельности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16" name="Oval 60"/>
          <p:cNvSpPr>
            <a:spLocks noChangeArrowheads="1"/>
          </p:cNvSpPr>
          <p:nvPr/>
        </p:nvSpPr>
        <p:spPr bwMode="auto">
          <a:xfrm>
            <a:off x="2009775" y="869950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1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3"/>
          <p:cNvSpPr txBox="1">
            <a:spLocks noGrp="1"/>
          </p:cNvSpPr>
          <p:nvPr/>
        </p:nvSpPr>
        <p:spPr bwMode="auto">
          <a:xfrm>
            <a:off x="77788" y="6427788"/>
            <a:ext cx="342900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fld id="{4757BDA2-3906-4FB0-8D36-42C2A7A8EE1F}" type="slidenum">
              <a:rPr lang="ru-RU" sz="900" b="1">
                <a:solidFill>
                  <a:srgbClr val="AEAEAE"/>
                </a:solidFill>
                <a:latin typeface="Verdana" pitchFamily="34" charset="0"/>
              </a:rPr>
              <a:pPr algn="ctr"/>
              <a:t>8</a:t>
            </a:fld>
            <a:endParaRPr lang="ru-RU" sz="900" b="1">
              <a:solidFill>
                <a:srgbClr val="AEAEAE"/>
              </a:solidFill>
              <a:latin typeface="Verdana" pitchFamily="34" charset="0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dirty="0" smtClean="0"/>
              <a:t>Элементы диаграммы деятельности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421200" y="1080000"/>
            <a:ext cx="822960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 smtClean="0">
                <a:solidFill>
                  <a:srgbClr val="002B78"/>
                </a:solidFill>
                <a:latin typeface="+mn-lt"/>
              </a:rPr>
              <a:t>Состояния деятельности</a:t>
            </a:r>
            <a:endParaRPr lang="ru-RU" sz="2400" b="1" dirty="0">
              <a:solidFill>
                <a:srgbClr val="002B78"/>
              </a:solidFill>
              <a:latin typeface="+mn-lt"/>
            </a:endParaRPr>
          </a:p>
        </p:txBody>
      </p:sp>
      <p:sp>
        <p:nvSpPr>
          <p:cNvPr id="7" name="Rectangle 17"/>
          <p:cNvSpPr txBox="1">
            <a:spLocks/>
          </p:cNvSpPr>
          <p:nvPr/>
        </p:nvSpPr>
        <p:spPr>
          <a:xfrm>
            <a:off x="3600000" y="1620000"/>
            <a:ext cx="50693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hangingPunct="0">
              <a:spcBef>
                <a:spcPts val="0"/>
              </a:spcBef>
              <a:defRPr/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Действие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action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 </a:t>
            </a:r>
            <a:r>
              <a:rPr lang="ru-RU" sz="1600" kern="0" dirty="0" smtClean="0">
                <a:solidFill>
                  <a:srgbClr val="002B78"/>
                </a:solidFill>
              </a:rPr>
              <a:t>–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</a:rPr>
              <a:t>элементарная единица спецификации поведения, которая не может быть далее декомпозирована в форме деятельности</a:t>
            </a:r>
            <a:endParaRPr lang="ru-RU" sz="1600" kern="0" dirty="0" smtClean="0">
              <a:solidFill>
                <a:srgbClr val="002B78"/>
              </a:solidFill>
              <a:latin typeface="+mn-lt"/>
            </a:endParaRPr>
          </a:p>
        </p:txBody>
      </p:sp>
      <p:pic>
        <p:nvPicPr>
          <p:cNvPr id="9421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0000" y="1620000"/>
            <a:ext cx="293370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17"/>
          <p:cNvSpPr txBox="1">
            <a:spLocks/>
          </p:cNvSpPr>
          <p:nvPr/>
        </p:nvSpPr>
        <p:spPr>
          <a:xfrm>
            <a:off x="2700000" y="3050550"/>
            <a:ext cx="5950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hangingPunct="0">
              <a:spcBef>
                <a:spcPts val="0"/>
              </a:spcBef>
              <a:defRPr/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Деятельность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activity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</a:rPr>
              <a:t>–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продолжающийся во времени неатомарный шаг вычислений в автомате</a:t>
            </a:r>
          </a:p>
        </p:txBody>
      </p:sp>
      <p:pic>
        <p:nvPicPr>
          <p:cNvPr id="9421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0000" y="2700000"/>
            <a:ext cx="176212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442913" y="4950252"/>
            <a:ext cx="46690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hangingPunct="0">
              <a:spcBef>
                <a:spcPts val="0"/>
              </a:spcBef>
              <a:defRPr/>
            </a:pP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Деятельность может представлять собой совокупность более мелких деятельностей и атомарных действий</a:t>
            </a:r>
          </a:p>
        </p:txBody>
      </p:sp>
      <p:pic>
        <p:nvPicPr>
          <p:cNvPr id="94219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12000" y="4023439"/>
            <a:ext cx="364807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3"/>
          <p:cNvSpPr txBox="1">
            <a:spLocks noGrp="1"/>
          </p:cNvSpPr>
          <p:nvPr/>
        </p:nvSpPr>
        <p:spPr bwMode="auto">
          <a:xfrm>
            <a:off x="77788" y="6427788"/>
            <a:ext cx="342900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fld id="{4757BDA2-3906-4FB0-8D36-42C2A7A8EE1F}" type="slidenum">
              <a:rPr lang="ru-RU" sz="900" b="1">
                <a:solidFill>
                  <a:srgbClr val="AEAEAE"/>
                </a:solidFill>
                <a:latin typeface="Verdana" pitchFamily="34" charset="0"/>
              </a:rPr>
              <a:pPr algn="ctr"/>
              <a:t>9</a:t>
            </a:fld>
            <a:endParaRPr lang="ru-RU" sz="900" b="1">
              <a:solidFill>
                <a:srgbClr val="AEAEAE"/>
              </a:solidFill>
              <a:latin typeface="Verdana" pitchFamily="34" charset="0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dirty="0" smtClean="0"/>
              <a:t>Элементы диаграммы деятельности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421200" y="1080000"/>
            <a:ext cx="822960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 smtClean="0">
                <a:solidFill>
                  <a:srgbClr val="002B78"/>
                </a:solidFill>
                <a:latin typeface="+mn-lt"/>
              </a:rPr>
              <a:t>Параметры и объекты деятельности</a:t>
            </a:r>
            <a:endParaRPr lang="ru-RU" sz="2400" b="1" dirty="0">
              <a:solidFill>
                <a:srgbClr val="002B78"/>
              </a:solidFill>
              <a:latin typeface="+mn-lt"/>
            </a:endParaRPr>
          </a:p>
        </p:txBody>
      </p:sp>
      <p:sp>
        <p:nvSpPr>
          <p:cNvPr id="7" name="Rectangle 17"/>
          <p:cNvSpPr txBox="1">
            <a:spLocks/>
          </p:cNvSpPr>
          <p:nvPr/>
        </p:nvSpPr>
        <p:spPr>
          <a:xfrm>
            <a:off x="3960000" y="1620000"/>
            <a:ext cx="46908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hangingPunct="0">
              <a:spcBef>
                <a:spcPts val="0"/>
              </a:spcBef>
              <a:defRPr/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Параметр деятельности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служит для представления входных и выходных параметров деятельности</a:t>
            </a:r>
          </a:p>
        </p:txBody>
      </p:sp>
      <p:sp>
        <p:nvSpPr>
          <p:cNvPr id="10" name="Rectangle 17"/>
          <p:cNvSpPr txBox="1">
            <a:spLocks/>
          </p:cNvSpPr>
          <p:nvPr/>
        </p:nvSpPr>
        <p:spPr>
          <a:xfrm>
            <a:off x="3960000" y="3060000"/>
            <a:ext cx="46722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hangingPunct="0">
              <a:spcBef>
                <a:spcPts val="0"/>
              </a:spcBef>
              <a:defRPr/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Объекты деятельности</a:t>
            </a:r>
            <a:r>
              <a:rPr lang="en-US" sz="1600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</a:rPr>
              <a:t>служат для представления данных поступающих на вход деятельности или получаемых в результате ее выполнения</a:t>
            </a:r>
            <a:endParaRPr lang="ru-RU" sz="1600" kern="0" dirty="0" smtClean="0">
              <a:solidFill>
                <a:srgbClr val="002B78"/>
              </a:solidFill>
              <a:latin typeface="+mn-lt"/>
            </a:endParaRPr>
          </a:p>
        </p:txBody>
      </p:sp>
      <p:pic>
        <p:nvPicPr>
          <p:cNvPr id="132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913" y="1620000"/>
            <a:ext cx="3438525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4A4DD5F-A13B-4867-BD44-2AA796FBC5EB}" type="slidenum">
              <a:rPr lang="ru-RU" smtClean="0"/>
              <a:pPr/>
              <a:t>10</a:t>
            </a:fld>
            <a:endParaRPr lang="ru-RU" smtClean="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 smtClean="0"/>
              <a:t>Элементы диаграммы деятельности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 bwMode="auto">
          <a:xfrm>
            <a:off x="421200" y="1080000"/>
            <a:ext cx="822960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 smtClean="0">
                <a:solidFill>
                  <a:srgbClr val="002B78"/>
                </a:solidFill>
                <a:latin typeface="+mn-lt"/>
              </a:rPr>
              <a:t>Дуга деятельности</a:t>
            </a:r>
            <a:endParaRPr lang="ru-RU" sz="2400" b="1" dirty="0">
              <a:solidFill>
                <a:srgbClr val="002B78"/>
              </a:solidFill>
              <a:latin typeface="+mn-lt"/>
            </a:endParaRPr>
          </a:p>
        </p:txBody>
      </p:sp>
      <p:sp>
        <p:nvSpPr>
          <p:cNvPr id="30" name="Rectangle 6"/>
          <p:cNvSpPr txBox="1">
            <a:spLocks/>
          </p:cNvSpPr>
          <p:nvPr/>
        </p:nvSpPr>
        <p:spPr>
          <a:xfrm>
            <a:off x="3600000" y="2520000"/>
            <a:ext cx="506933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00000"/>
              </a:lnSpc>
              <a:spcBef>
                <a:spcPts val="0"/>
              </a:spcBef>
            </a:pP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Существуют две разновидности дуг деятельности</a:t>
            </a:r>
          </a:p>
          <a:p>
            <a:pPr marL="180000" indent="-180000" algn="just" eaLnBrk="0" hangingPunct="0">
              <a:lnSpc>
                <a:spcPct val="100000"/>
              </a:lnSpc>
              <a:spcBef>
                <a:spcPts val="0"/>
              </a:spcBef>
              <a:buFont typeface="Verdana" pitchFamily="34" charset="0"/>
              <a:buChar char="•"/>
            </a:pPr>
            <a:endParaRPr lang="ru-RU" sz="1600" kern="0" dirty="0" smtClean="0">
              <a:solidFill>
                <a:srgbClr val="002B78"/>
              </a:solidFill>
              <a:latin typeface="+mn-lt"/>
            </a:endParaRPr>
          </a:p>
          <a:p>
            <a:pPr marL="800100" lvl="1" indent="-342900" algn="just" eaLnBrk="0" hangingPunct="0">
              <a:spcBef>
                <a:spcPts val="0"/>
              </a:spcBef>
              <a:buFont typeface="+mj-lt"/>
              <a:buAutoNum type="arabicPeriod"/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Поток управления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control flow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 – это дуга деятельности по которой передаются только маркеры управления</a:t>
            </a:r>
          </a:p>
          <a:p>
            <a:pPr marL="800100" lvl="1" indent="-342900" algn="just" eaLnBrk="0" hangingPunct="0">
              <a:spcBef>
                <a:spcPts val="0"/>
              </a:spcBef>
              <a:buFont typeface="+mj-lt"/>
              <a:buAutoNum type="arabicPeriod"/>
            </a:pPr>
            <a:endParaRPr lang="ru-RU" sz="1600" kern="0" dirty="0" smtClean="0">
              <a:solidFill>
                <a:srgbClr val="002B78"/>
              </a:solidFill>
              <a:latin typeface="+mn-lt"/>
            </a:endParaRPr>
          </a:p>
          <a:p>
            <a:pPr marL="800100" lvl="1" indent="-342900" algn="just" eaLnBrk="0" hangingPunct="0">
              <a:spcBef>
                <a:spcPts val="0"/>
              </a:spcBef>
              <a:buFont typeface="+mj-lt"/>
              <a:buAutoNum type="arabicPeriod"/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Поток объектов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object flow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  <a:latin typeface="+mn-lt"/>
              </a:rPr>
              <a:t> –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это дуга деятельности по которой передаются только маркеры объектов или данных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0000" y="2880000"/>
            <a:ext cx="114300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595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60000" y="3600000"/>
            <a:ext cx="13335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421200" y="1800000"/>
            <a:ext cx="8248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kern="0" dirty="0" smtClean="0">
                <a:solidFill>
                  <a:srgbClr val="002B78"/>
                </a:solidFill>
              </a:rPr>
              <a:t>Дуга деятельности (</a:t>
            </a:r>
            <a:r>
              <a:rPr lang="en-US" sz="1600" b="1" kern="0" dirty="0" smtClean="0">
                <a:solidFill>
                  <a:srgbClr val="002B78"/>
                </a:solidFill>
              </a:rPr>
              <a:t>activity edge</a:t>
            </a:r>
            <a:r>
              <a:rPr lang="ru-RU" sz="1600" b="1" kern="0" dirty="0" smtClean="0">
                <a:solidFill>
                  <a:srgbClr val="002B78"/>
                </a:solidFill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</a:rPr>
              <a:t> является абстрактным классом для направленных соединений между двумя узлами деятельности</a:t>
            </a:r>
            <a:endParaRPr lang="en-US" sz="1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3"/>
          <p:cNvSpPr txBox="1">
            <a:spLocks noGrp="1"/>
          </p:cNvSpPr>
          <p:nvPr/>
        </p:nvSpPr>
        <p:spPr bwMode="auto">
          <a:xfrm>
            <a:off x="77788" y="6427788"/>
            <a:ext cx="342900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fld id="{4757BDA2-3906-4FB0-8D36-42C2A7A8EE1F}" type="slidenum">
              <a:rPr lang="ru-RU" sz="900" b="1">
                <a:solidFill>
                  <a:srgbClr val="AEAEAE"/>
                </a:solidFill>
                <a:latin typeface="Verdana" pitchFamily="34" charset="0"/>
              </a:rPr>
              <a:pPr algn="ctr"/>
              <a:t>11</a:t>
            </a:fld>
            <a:endParaRPr lang="ru-RU" sz="900" b="1">
              <a:solidFill>
                <a:srgbClr val="AEAEAE"/>
              </a:solidFill>
              <a:latin typeface="Verdana" pitchFamily="34" charset="0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dirty="0" smtClean="0"/>
              <a:t>Элементы диаграммы деятельности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421200" y="1080000"/>
            <a:ext cx="822960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 smtClean="0">
                <a:solidFill>
                  <a:srgbClr val="002B78"/>
                </a:solidFill>
                <a:latin typeface="+mn-lt"/>
              </a:rPr>
              <a:t>Узлы управления</a:t>
            </a:r>
            <a:endParaRPr lang="ru-RU" sz="2400" b="1" dirty="0">
              <a:solidFill>
                <a:srgbClr val="002B78"/>
              </a:solidFill>
              <a:latin typeface="+mn-lt"/>
            </a:endParaRPr>
          </a:p>
        </p:txBody>
      </p:sp>
      <p:sp>
        <p:nvSpPr>
          <p:cNvPr id="7" name="Rectangle 17"/>
          <p:cNvSpPr txBox="1">
            <a:spLocks/>
          </p:cNvSpPr>
          <p:nvPr/>
        </p:nvSpPr>
        <p:spPr>
          <a:xfrm>
            <a:off x="3600000" y="1620000"/>
            <a:ext cx="50693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spcBef>
                <a:spcPts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Узел  управления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control node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-  абстрактный узел деятельности, который предназначен для координации потоков в деятельности</a:t>
            </a:r>
          </a:p>
        </p:txBody>
      </p:sp>
      <p:pic>
        <p:nvPicPr>
          <p:cNvPr id="131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0000" y="1620000"/>
            <a:ext cx="2971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17"/>
          <p:cNvSpPr txBox="1">
            <a:spLocks/>
          </p:cNvSpPr>
          <p:nvPr/>
        </p:nvSpPr>
        <p:spPr>
          <a:xfrm>
            <a:off x="442913" y="2943561"/>
            <a:ext cx="820788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spcBef>
                <a:spcPts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Различают следующие узлы управления:</a:t>
            </a:r>
          </a:p>
          <a:p>
            <a:pPr marR="0" lvl="0" algn="just" defTabSz="914400" rtl="0" eaLnBrk="0" fontAlgn="base" latinLnBrk="0" hangingPunct="0">
              <a:spcBef>
                <a:spcPts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ru-RU" sz="1600" b="1" kern="0" dirty="0" smtClean="0">
              <a:solidFill>
                <a:srgbClr val="002B78"/>
              </a:solidFill>
              <a:latin typeface="+mn-lt"/>
            </a:endParaRPr>
          </a:p>
          <a:p>
            <a:pPr marL="180000" indent="-180000" algn="just">
              <a:buFont typeface="Tahoma" pitchFamily="34" charset="0"/>
              <a:buChar char="•"/>
            </a:pPr>
            <a:r>
              <a:rPr lang="ru-RU" sz="1600" b="1" kern="0" dirty="0" smtClean="0">
                <a:solidFill>
                  <a:srgbClr val="002B78"/>
                </a:solidFill>
              </a:rPr>
              <a:t>Начальный узел (</a:t>
            </a:r>
            <a:r>
              <a:rPr lang="en-US" sz="1600" b="1" kern="0" dirty="0" smtClean="0">
                <a:solidFill>
                  <a:srgbClr val="002B78"/>
                </a:solidFill>
              </a:rPr>
              <a:t>activity initial)</a:t>
            </a:r>
            <a:endParaRPr lang="ru-RU" sz="1600" b="1" kern="0" dirty="0" smtClean="0">
              <a:solidFill>
                <a:srgbClr val="002B78"/>
              </a:solidFill>
            </a:endParaRPr>
          </a:p>
          <a:p>
            <a:pPr marL="180000" indent="-180000" algn="just">
              <a:buFont typeface="Tahoma" pitchFamily="34" charset="0"/>
              <a:buChar char="•"/>
            </a:pPr>
            <a:endParaRPr lang="ru-RU" sz="1600" b="1" kern="0" dirty="0" smtClean="0">
              <a:solidFill>
                <a:srgbClr val="002B78"/>
              </a:solidFill>
            </a:endParaRPr>
          </a:p>
          <a:p>
            <a:pPr marL="180000" indent="-180000" algn="just">
              <a:buFont typeface="Tahoma" pitchFamily="34" charset="0"/>
              <a:buChar char="•"/>
            </a:pPr>
            <a:r>
              <a:rPr lang="ru-RU" sz="1600" b="1" kern="0" dirty="0" smtClean="0">
                <a:solidFill>
                  <a:srgbClr val="002B78"/>
                </a:solidFill>
              </a:rPr>
              <a:t>Узел финала (</a:t>
            </a:r>
            <a:r>
              <a:rPr lang="en-US" sz="1600" b="1" kern="0" dirty="0" smtClean="0">
                <a:solidFill>
                  <a:srgbClr val="002B78"/>
                </a:solidFill>
              </a:rPr>
              <a:t>activity final</a:t>
            </a:r>
            <a:r>
              <a:rPr lang="ru-RU" sz="1600" b="1" kern="0" dirty="0" smtClean="0">
                <a:solidFill>
                  <a:srgbClr val="002B78"/>
                </a:solidFill>
              </a:rPr>
              <a:t>)</a:t>
            </a:r>
            <a:endParaRPr lang="en-US" sz="1600" b="1" kern="0" dirty="0" smtClean="0">
              <a:solidFill>
                <a:srgbClr val="002B78"/>
              </a:solidFill>
            </a:endParaRPr>
          </a:p>
          <a:p>
            <a:pPr marL="180000" indent="-180000" algn="just">
              <a:buFont typeface="Tahoma" pitchFamily="34" charset="0"/>
              <a:buChar char="•"/>
            </a:pPr>
            <a:endParaRPr lang="en-US" sz="1600" b="1" kern="0" dirty="0" smtClean="0">
              <a:solidFill>
                <a:srgbClr val="002B78"/>
              </a:solidFill>
            </a:endParaRPr>
          </a:p>
          <a:p>
            <a:pPr marL="180000" indent="-180000" algn="just">
              <a:buFont typeface="Tahoma" pitchFamily="34" charset="0"/>
              <a:buChar char="•"/>
            </a:pPr>
            <a:r>
              <a:rPr lang="ru-RU" sz="1600" b="1" kern="0" dirty="0" smtClean="0">
                <a:solidFill>
                  <a:srgbClr val="002B78"/>
                </a:solidFill>
              </a:rPr>
              <a:t>Узел финала потока (</a:t>
            </a:r>
            <a:r>
              <a:rPr lang="en-US" sz="1600" b="1" kern="0" dirty="0" smtClean="0">
                <a:solidFill>
                  <a:srgbClr val="002B78"/>
                </a:solidFill>
              </a:rPr>
              <a:t>flow final</a:t>
            </a:r>
            <a:r>
              <a:rPr lang="ru-RU" sz="1600" b="1" kern="0" dirty="0" smtClean="0">
                <a:solidFill>
                  <a:srgbClr val="002B78"/>
                </a:solidFill>
              </a:rPr>
              <a:t>)</a:t>
            </a:r>
          </a:p>
          <a:p>
            <a:pPr marL="180000" indent="-180000" algn="just">
              <a:buFont typeface="Tahoma" pitchFamily="34" charset="0"/>
              <a:buChar char="•"/>
            </a:pPr>
            <a:endParaRPr lang="ru-RU" sz="1600" b="1" kern="0" dirty="0" smtClean="0">
              <a:solidFill>
                <a:srgbClr val="002B78"/>
              </a:solidFill>
            </a:endParaRPr>
          </a:p>
          <a:p>
            <a:pPr marL="180000" indent="-180000" algn="just">
              <a:buFont typeface="Tahoma" pitchFamily="34" charset="0"/>
              <a:buChar char="•"/>
            </a:pPr>
            <a:r>
              <a:rPr lang="ru-RU" sz="1600" b="1" kern="0" dirty="0" smtClean="0">
                <a:solidFill>
                  <a:srgbClr val="002B78"/>
                </a:solidFill>
              </a:rPr>
              <a:t>Узел решения</a:t>
            </a:r>
            <a:r>
              <a:rPr lang="en-US" sz="1600" b="1" kern="0" dirty="0" smtClean="0">
                <a:solidFill>
                  <a:srgbClr val="002B78"/>
                </a:solidFill>
              </a:rPr>
              <a:t> </a:t>
            </a:r>
            <a:r>
              <a:rPr lang="ru-RU" sz="1600" b="1" kern="0" dirty="0" smtClean="0">
                <a:solidFill>
                  <a:srgbClr val="002B78"/>
                </a:solidFill>
              </a:rPr>
              <a:t>(</a:t>
            </a:r>
            <a:r>
              <a:rPr lang="en-US" sz="1600" b="1" kern="0" dirty="0" smtClean="0">
                <a:solidFill>
                  <a:srgbClr val="002B78"/>
                </a:solidFill>
              </a:rPr>
              <a:t>decision</a:t>
            </a:r>
            <a:r>
              <a:rPr lang="ru-RU" sz="1600" b="1" kern="0" dirty="0" smtClean="0">
                <a:solidFill>
                  <a:srgbClr val="002B78"/>
                </a:solidFill>
              </a:rPr>
              <a:t>)</a:t>
            </a:r>
            <a:r>
              <a:rPr lang="en-US" sz="1600" b="1" kern="0" dirty="0" smtClean="0">
                <a:solidFill>
                  <a:srgbClr val="002B78"/>
                </a:solidFill>
              </a:rPr>
              <a:t> / </a:t>
            </a:r>
            <a:r>
              <a:rPr lang="ru-RU" sz="1600" b="1" kern="0" dirty="0" smtClean="0">
                <a:solidFill>
                  <a:srgbClr val="002B78"/>
                </a:solidFill>
              </a:rPr>
              <a:t>слияния</a:t>
            </a:r>
            <a:r>
              <a:rPr lang="en-US" sz="1600" b="1" kern="0" dirty="0" smtClean="0">
                <a:solidFill>
                  <a:srgbClr val="002B78"/>
                </a:solidFill>
              </a:rPr>
              <a:t> (merge)</a:t>
            </a:r>
          </a:p>
          <a:p>
            <a:pPr marL="180000" indent="-180000" algn="just"/>
            <a:endParaRPr lang="ru-RU" sz="1600" b="1" kern="0" dirty="0" smtClean="0">
              <a:solidFill>
                <a:srgbClr val="002B78"/>
              </a:solidFill>
            </a:endParaRPr>
          </a:p>
          <a:p>
            <a:pPr marL="180000" indent="-180000" algn="just">
              <a:buFont typeface="Tahoma" pitchFamily="34" charset="0"/>
              <a:buChar char="•"/>
            </a:pPr>
            <a:r>
              <a:rPr lang="ru-RU" sz="1600" b="1" kern="0" dirty="0" smtClean="0">
                <a:solidFill>
                  <a:srgbClr val="002B78"/>
                </a:solidFill>
              </a:rPr>
              <a:t>Узел разделения</a:t>
            </a:r>
            <a:r>
              <a:rPr lang="en-US" sz="1600" b="1" kern="0" dirty="0" smtClean="0">
                <a:solidFill>
                  <a:srgbClr val="002B78"/>
                </a:solidFill>
              </a:rPr>
              <a:t> / </a:t>
            </a:r>
            <a:r>
              <a:rPr lang="ru-RU" sz="1600" b="1" kern="0" dirty="0" smtClean="0">
                <a:solidFill>
                  <a:srgbClr val="002B78"/>
                </a:solidFill>
              </a:rPr>
              <a:t>соединения (</a:t>
            </a:r>
            <a:r>
              <a:rPr lang="en-US" sz="1600" b="1" kern="0" dirty="0" smtClean="0">
                <a:solidFill>
                  <a:srgbClr val="002B78"/>
                </a:solidFill>
              </a:rPr>
              <a:t>fork</a:t>
            </a:r>
            <a:r>
              <a:rPr lang="ru-RU" sz="1600" b="1" kern="0" dirty="0" smtClean="0">
                <a:solidFill>
                  <a:srgbClr val="002B78"/>
                </a:solidFill>
              </a:rPr>
              <a:t>)</a:t>
            </a:r>
            <a:endParaRPr lang="ru-RU" sz="1600" kern="0" dirty="0" smtClean="0">
              <a:solidFill>
                <a:srgbClr val="002B78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3"/>
          <p:cNvSpPr txBox="1">
            <a:spLocks noGrp="1"/>
          </p:cNvSpPr>
          <p:nvPr/>
        </p:nvSpPr>
        <p:spPr bwMode="auto">
          <a:xfrm>
            <a:off x="77788" y="6427788"/>
            <a:ext cx="342900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fld id="{4757BDA2-3906-4FB0-8D36-42C2A7A8EE1F}" type="slidenum">
              <a:rPr lang="ru-RU" sz="900" b="1">
                <a:solidFill>
                  <a:srgbClr val="AEAEAE"/>
                </a:solidFill>
                <a:latin typeface="Verdana" pitchFamily="34" charset="0"/>
              </a:rPr>
              <a:pPr algn="ctr"/>
              <a:t>12</a:t>
            </a:fld>
            <a:endParaRPr lang="ru-RU" sz="900" b="1" dirty="0">
              <a:solidFill>
                <a:srgbClr val="AEAEAE"/>
              </a:solidFill>
              <a:latin typeface="Verdana" pitchFamily="34" charset="0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dirty="0" smtClean="0"/>
              <a:t>Элементы диаграммы деятельности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421200" y="1080000"/>
            <a:ext cx="864870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r>
              <a:rPr lang="ru-RU" sz="2400" b="1" dirty="0" smtClean="0">
                <a:solidFill>
                  <a:srgbClr val="002B78"/>
                </a:solidFill>
              </a:rPr>
              <a:t>Узлы управления</a:t>
            </a:r>
            <a:endParaRPr lang="ru-RU" sz="2400" b="1" dirty="0">
              <a:solidFill>
                <a:srgbClr val="002B78"/>
              </a:solidFill>
            </a:endParaRPr>
          </a:p>
        </p:txBody>
      </p:sp>
      <p:sp>
        <p:nvSpPr>
          <p:cNvPr id="7" name="Rectangle 6"/>
          <p:cNvSpPr txBox="1">
            <a:spLocks/>
          </p:cNvSpPr>
          <p:nvPr/>
        </p:nvSpPr>
        <p:spPr>
          <a:xfrm>
            <a:off x="3600000" y="1800000"/>
            <a:ext cx="5069338" cy="29977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endParaRPr lang="en-US" sz="1600" b="1" kern="0" dirty="0" smtClean="0">
              <a:solidFill>
                <a:srgbClr val="002B78"/>
              </a:solidFill>
              <a:latin typeface="+mn-lt"/>
            </a:endParaRPr>
          </a:p>
          <a:p>
            <a:pPr algn="just">
              <a:lnSpc>
                <a:spcPct val="90000"/>
              </a:lnSpc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Начальный узел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a</a:t>
            </a:r>
            <a:r>
              <a:rPr lang="ru-RU" sz="1600" b="1" kern="0" dirty="0" err="1" smtClean="0">
                <a:solidFill>
                  <a:srgbClr val="002B78"/>
                </a:solidFill>
                <a:latin typeface="+mn-lt"/>
              </a:rPr>
              <a:t>ctivity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en-US" sz="1600" b="1" kern="0" dirty="0" err="1" smtClean="0">
                <a:solidFill>
                  <a:srgbClr val="002B78"/>
                </a:solidFill>
                <a:latin typeface="+mn-lt"/>
              </a:rPr>
              <a:t>i</a:t>
            </a:r>
            <a:r>
              <a:rPr lang="ru-RU" sz="1600" b="1" kern="0" dirty="0" err="1" smtClean="0">
                <a:solidFill>
                  <a:srgbClr val="002B78"/>
                </a:solidFill>
                <a:latin typeface="+mn-lt"/>
              </a:rPr>
              <a:t>nitial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 является узлом управления, в котором начинается поток при вызове деятельности</a:t>
            </a:r>
            <a:endParaRPr lang="en-US" sz="1600" kern="0" dirty="0" smtClean="0">
              <a:solidFill>
                <a:srgbClr val="002B78"/>
              </a:solidFill>
              <a:latin typeface="+mn-lt"/>
            </a:endParaRPr>
          </a:p>
          <a:p>
            <a:pPr algn="just">
              <a:lnSpc>
                <a:spcPct val="90000"/>
              </a:lnSpc>
            </a:pPr>
            <a:endParaRPr lang="ru-RU" sz="1600" kern="0" dirty="0" smtClean="0">
              <a:solidFill>
                <a:srgbClr val="002B78"/>
              </a:solidFill>
              <a:latin typeface="+mn-lt"/>
            </a:endParaRPr>
          </a:p>
          <a:p>
            <a:pPr algn="just">
              <a:lnSpc>
                <a:spcPct val="90000"/>
              </a:lnSpc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Узел финала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a</a:t>
            </a:r>
            <a:r>
              <a:rPr lang="ru-RU" sz="1600" b="1" kern="0" dirty="0" err="1" smtClean="0">
                <a:solidFill>
                  <a:srgbClr val="002B78"/>
                </a:solidFill>
                <a:latin typeface="+mn-lt"/>
              </a:rPr>
              <a:t>ctivity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 f</a:t>
            </a:r>
            <a:r>
              <a:rPr lang="ru-RU" sz="1600" b="1" kern="0" dirty="0" err="1" smtClean="0">
                <a:solidFill>
                  <a:srgbClr val="002B78"/>
                </a:solidFill>
                <a:latin typeface="+mn-lt"/>
              </a:rPr>
              <a:t>inal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 является узлом управления, который прекращает или останавливает все потоки в деятельности</a:t>
            </a:r>
          </a:p>
          <a:p>
            <a:pPr algn="just">
              <a:lnSpc>
                <a:spcPct val="90000"/>
              </a:lnSpc>
            </a:pPr>
            <a:endParaRPr lang="ru-RU" sz="1600" kern="0" dirty="0" smtClean="0">
              <a:solidFill>
                <a:srgbClr val="002B78"/>
              </a:solidFill>
              <a:latin typeface="+mn-lt"/>
            </a:endParaRPr>
          </a:p>
          <a:p>
            <a:pPr algn="just">
              <a:lnSpc>
                <a:spcPct val="90000"/>
              </a:lnSpc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Узел финала потока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f</a:t>
            </a:r>
            <a:r>
              <a:rPr lang="ru-RU" sz="1600" b="1" kern="0" dirty="0" err="1" smtClean="0">
                <a:solidFill>
                  <a:srgbClr val="002B78"/>
                </a:solidFill>
                <a:latin typeface="+mn-lt"/>
              </a:rPr>
              <a:t>low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 f</a:t>
            </a:r>
            <a:r>
              <a:rPr lang="ru-RU" sz="1600" b="1" kern="0" dirty="0" err="1" smtClean="0">
                <a:solidFill>
                  <a:srgbClr val="002B78"/>
                </a:solidFill>
                <a:latin typeface="+mn-lt"/>
              </a:rPr>
              <a:t>inal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 является финальным узлом, который завершает отдельный поток, не завершая содержащей его деятельности</a:t>
            </a:r>
          </a:p>
          <a:p>
            <a:pPr marL="800100" lvl="1" indent="-342900" algn="just" eaLnBrk="0" hangingPunct="0">
              <a:spcBef>
                <a:spcPts val="0"/>
              </a:spcBef>
              <a:buFont typeface="+mj-lt"/>
              <a:buAutoNum type="arabicPeriod"/>
            </a:pPr>
            <a:endParaRPr lang="ru-RU" sz="1600" kern="0" dirty="0" smtClean="0">
              <a:solidFill>
                <a:srgbClr val="002B78"/>
              </a:solidFill>
              <a:latin typeface="+mn-lt"/>
            </a:endParaRPr>
          </a:p>
        </p:txBody>
      </p:sp>
      <p:pic>
        <p:nvPicPr>
          <p:cNvPr id="12800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0000" y="1800000"/>
            <a:ext cx="2790825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9BF12FE-7FE4-4DB2-B8A3-35B03216E31D}" type="slidenum">
              <a:rPr lang="ru-RU" smtClean="0"/>
              <a:pPr/>
              <a:t>13</a:t>
            </a:fld>
            <a:endParaRPr lang="ru-RU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 smtClean="0"/>
              <a:t>Элементы диаграммы деятельности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421200" y="1080000"/>
            <a:ext cx="822960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r>
              <a:rPr lang="ru-RU" sz="2400" b="1" dirty="0" smtClean="0">
                <a:solidFill>
                  <a:srgbClr val="002B78"/>
                </a:solidFill>
              </a:rPr>
              <a:t>Узлы управления</a:t>
            </a:r>
            <a:endParaRPr lang="ru-RU" sz="2400" b="1" dirty="0">
              <a:solidFill>
                <a:srgbClr val="002B78"/>
              </a:solidFill>
            </a:endParaRPr>
          </a:p>
        </p:txBody>
      </p:sp>
      <p:sp>
        <p:nvSpPr>
          <p:cNvPr id="6" name="Rectangle 10"/>
          <p:cNvSpPr txBox="1">
            <a:spLocks/>
          </p:cNvSpPr>
          <p:nvPr/>
        </p:nvSpPr>
        <p:spPr>
          <a:xfrm>
            <a:off x="828675" y="5292000"/>
            <a:ext cx="361782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eaLnBrk="0" latinLnBrk="0" hangingPunct="0">
              <a:buClrTx/>
              <a:buSzTx/>
              <a:tabLst/>
              <a:defRPr/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Узел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решения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decision node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является узлом управления, который выбирает между выходящими потоками</a:t>
            </a:r>
          </a:p>
        </p:txBody>
      </p:sp>
      <p:sp>
        <p:nvSpPr>
          <p:cNvPr id="9" name="Rectangle 10"/>
          <p:cNvSpPr txBox="1">
            <a:spLocks/>
          </p:cNvSpPr>
          <p:nvPr/>
        </p:nvSpPr>
        <p:spPr>
          <a:xfrm>
            <a:off x="4704080" y="5292000"/>
            <a:ext cx="361124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defTabSz="914400" eaLnBrk="0" latinLnBrk="0" hangingPunct="0">
              <a:buClrTx/>
              <a:buSzTx/>
              <a:tabLst/>
              <a:defRPr/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Узел слияния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merge node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является узлом управления, который соединяет вместе несколько альтернативных потоков</a:t>
            </a:r>
          </a:p>
        </p:txBody>
      </p:sp>
      <p:pic>
        <p:nvPicPr>
          <p:cNvPr id="1269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8675" y="1620000"/>
            <a:ext cx="7486650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Элементы диаграммы деятельности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E8B2DF-DB3D-4FC6-B48B-86DBC6513EDA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  <p:sp>
        <p:nvSpPr>
          <p:cNvPr id="12" name="Title 1"/>
          <p:cNvSpPr txBox="1">
            <a:spLocks/>
          </p:cNvSpPr>
          <p:nvPr/>
        </p:nvSpPr>
        <p:spPr bwMode="auto">
          <a:xfrm>
            <a:off x="421200" y="1080000"/>
            <a:ext cx="822960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r>
              <a:rPr lang="ru-RU" sz="2400" b="1" dirty="0" smtClean="0">
                <a:solidFill>
                  <a:srgbClr val="002B78"/>
                </a:solidFill>
              </a:rPr>
              <a:t>Узлы управления</a:t>
            </a:r>
            <a:endParaRPr lang="ru-RU" sz="2400" b="1" dirty="0">
              <a:solidFill>
                <a:srgbClr val="002B78"/>
              </a:solidFill>
            </a:endParaRPr>
          </a:p>
        </p:txBody>
      </p:sp>
      <p:sp>
        <p:nvSpPr>
          <p:cNvPr id="13" name="Rectangle 5"/>
          <p:cNvSpPr txBox="1">
            <a:spLocks/>
          </p:cNvSpPr>
          <p:nvPr/>
        </p:nvSpPr>
        <p:spPr>
          <a:xfrm>
            <a:off x="1433512" y="4680000"/>
            <a:ext cx="30310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00000"/>
              </a:lnSpc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Узел разделения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fork node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является узлом управления, который расщепляет поток на несколько параллельных потоков</a:t>
            </a:r>
          </a:p>
        </p:txBody>
      </p:sp>
      <p:sp>
        <p:nvSpPr>
          <p:cNvPr id="15" name="Rectangle 5"/>
          <p:cNvSpPr txBox="1">
            <a:spLocks/>
          </p:cNvSpPr>
          <p:nvPr/>
        </p:nvSpPr>
        <p:spPr>
          <a:xfrm>
            <a:off x="4888000" y="4680000"/>
            <a:ext cx="282248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00000"/>
              </a:lnSpc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Узел соединения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join node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является узлом управления, который синхронизирует несколько потоков</a:t>
            </a:r>
          </a:p>
        </p:txBody>
      </p:sp>
      <p:pic>
        <p:nvPicPr>
          <p:cNvPr id="129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3513" y="1980000"/>
            <a:ext cx="627697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Элементы диаграммы деятельности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E8B2DF-DB3D-4FC6-B48B-86DBC6513EDA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  <p:sp>
        <p:nvSpPr>
          <p:cNvPr id="16" name="Title 1"/>
          <p:cNvSpPr txBox="1">
            <a:spLocks/>
          </p:cNvSpPr>
          <p:nvPr/>
        </p:nvSpPr>
        <p:spPr bwMode="auto">
          <a:xfrm>
            <a:off x="421200" y="1080000"/>
            <a:ext cx="822960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 smtClean="0">
                <a:solidFill>
                  <a:srgbClr val="002B78"/>
                </a:solidFill>
                <a:latin typeface="+mn-lt"/>
              </a:rPr>
              <a:t>Специальные действия</a:t>
            </a:r>
            <a:endParaRPr lang="ru-RU" sz="2400" b="1" dirty="0">
              <a:solidFill>
                <a:srgbClr val="002B78"/>
              </a:solidFill>
              <a:latin typeface="+mn-lt"/>
            </a:endParaRPr>
          </a:p>
        </p:txBody>
      </p:sp>
      <p:sp>
        <p:nvSpPr>
          <p:cNvPr id="24" name="Rectangle 6"/>
          <p:cNvSpPr txBox="1">
            <a:spLocks/>
          </p:cNvSpPr>
          <p:nvPr/>
        </p:nvSpPr>
        <p:spPr>
          <a:xfrm>
            <a:off x="421200" y="4724400"/>
            <a:ext cx="8174038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R="0" lvl="0" algn="just" defTabSz="914400" eaLnBrk="0" latinLnBrk="0" hangingPunct="0">
              <a:buClrTx/>
              <a:buSzTx/>
              <a:tabLst/>
              <a:defRPr/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Действие передачи сигнала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send signal action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 является действием, которое на основе своих входов создает экземпляр сигнала и передает его объекту цели</a:t>
            </a:r>
          </a:p>
          <a:p>
            <a:pPr marR="0" lvl="0" algn="just" defTabSz="914400" eaLnBrk="0" latinLnBrk="0" hangingPunct="0">
              <a:buClrTx/>
              <a:buSzTx/>
              <a:tabLst/>
              <a:defRPr/>
            </a:pPr>
            <a:endParaRPr lang="ru-RU" sz="1600" b="1" kern="0" dirty="0" smtClean="0">
              <a:solidFill>
                <a:srgbClr val="002B78"/>
              </a:solidFill>
              <a:latin typeface="+mn-lt"/>
            </a:endParaRPr>
          </a:p>
          <a:p>
            <a:pPr marR="0" lvl="0" algn="just" defTabSz="914400" eaLnBrk="0" latinLnBrk="0" hangingPunct="0">
              <a:buClrTx/>
              <a:buSzTx/>
              <a:tabLst/>
              <a:defRPr/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Действие приема события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receive event action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является действием, которое ожидает наступление некоторого события</a:t>
            </a:r>
          </a:p>
        </p:txBody>
      </p:sp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2125" y="2160000"/>
            <a:ext cx="561975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Элементы диаграммы деятельности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E8B2DF-DB3D-4FC6-B48B-86DBC6513EDA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  <p:sp>
        <p:nvSpPr>
          <p:cNvPr id="15" name="Title 1"/>
          <p:cNvSpPr txBox="1">
            <a:spLocks/>
          </p:cNvSpPr>
          <p:nvPr/>
        </p:nvSpPr>
        <p:spPr bwMode="auto">
          <a:xfrm>
            <a:off x="421200" y="1080000"/>
            <a:ext cx="822960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 smtClean="0">
                <a:solidFill>
                  <a:srgbClr val="002B78"/>
                </a:solidFill>
                <a:latin typeface="+mn-lt"/>
              </a:rPr>
              <a:t>Центральный буфер</a:t>
            </a:r>
            <a:endParaRPr lang="ru-RU" sz="2400" b="1" dirty="0">
              <a:solidFill>
                <a:srgbClr val="002B78"/>
              </a:solidFill>
              <a:latin typeface="+mn-lt"/>
            </a:endParaRPr>
          </a:p>
        </p:txBody>
      </p:sp>
      <p:sp>
        <p:nvSpPr>
          <p:cNvPr id="16" name="Rectangle 6"/>
          <p:cNvSpPr txBox="1">
            <a:spLocks/>
          </p:cNvSpPr>
          <p:nvPr/>
        </p:nvSpPr>
        <p:spPr>
          <a:xfrm>
            <a:off x="421200" y="4941888"/>
            <a:ext cx="824813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00000"/>
              </a:lnSpc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Центральный буфер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central buffer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является узлом абстрактной деятельности, которая служит для управления потоками из нескольких источников и мест назначения</a:t>
            </a:r>
          </a:p>
          <a:p>
            <a:pPr algn="just" eaLnBrk="0" hangingPunct="0">
              <a:lnSpc>
                <a:spcPct val="100000"/>
              </a:lnSpc>
            </a:pPr>
            <a:endParaRPr lang="ru-RU" sz="1600" kern="0" dirty="0" smtClean="0">
              <a:solidFill>
                <a:srgbClr val="002B78"/>
              </a:solidFill>
              <a:latin typeface="+mn-lt"/>
            </a:endParaRPr>
          </a:p>
          <a:p>
            <a:pPr algn="just" eaLnBrk="0" hangingPunct="0">
              <a:lnSpc>
                <a:spcPct val="100000"/>
              </a:lnSpc>
            </a:pP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Центральный буфер не имеет непосредственных соединений с узлами действия</a:t>
            </a:r>
          </a:p>
        </p:txBody>
      </p:sp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825" y="1980000"/>
            <a:ext cx="813435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Элементы диаграммы деятельности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E8B2DF-DB3D-4FC6-B48B-86DBC6513EDA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21200" y="1080000"/>
            <a:ext cx="822960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 smtClean="0">
                <a:solidFill>
                  <a:srgbClr val="002B78"/>
                </a:solidFill>
                <a:latin typeface="+mn-lt"/>
              </a:rPr>
              <a:t>Хранилище данных</a:t>
            </a:r>
            <a:endParaRPr lang="ru-RU" sz="2400" b="1" dirty="0">
              <a:solidFill>
                <a:srgbClr val="002B78"/>
              </a:solidFill>
              <a:latin typeface="+mn-lt"/>
            </a:endParaRPr>
          </a:p>
        </p:txBody>
      </p:sp>
      <p:sp>
        <p:nvSpPr>
          <p:cNvPr id="9" name="Rectangle 6"/>
          <p:cNvSpPr txBox="1">
            <a:spLocks/>
          </p:cNvSpPr>
          <p:nvPr/>
        </p:nvSpPr>
        <p:spPr>
          <a:xfrm>
            <a:off x="4320000" y="1800000"/>
            <a:ext cx="4349337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marR="0" lvl="0" algn="just" defTabSz="914400" eaLnBrk="0" latinLnBrk="0" hangingPunct="0">
              <a:buClrTx/>
              <a:buSzTx/>
              <a:tabLst/>
              <a:defRPr/>
            </a:pP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Хранилище данных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data store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  <a:latin typeface="+mn-lt"/>
              </a:rPr>
              <a:t>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является разновидностью центрального буфера для постоянного хранения объектов или другой информации</a:t>
            </a:r>
          </a:p>
        </p:txBody>
      </p:sp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0000" y="1800000"/>
            <a:ext cx="3457575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Элементы диаграммы деятельности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E8B2DF-DB3D-4FC6-B48B-86DBC6513EDA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  <p:sp>
        <p:nvSpPr>
          <p:cNvPr id="20" name="Title 1"/>
          <p:cNvSpPr txBox="1">
            <a:spLocks/>
          </p:cNvSpPr>
          <p:nvPr/>
        </p:nvSpPr>
        <p:spPr bwMode="auto">
          <a:xfrm>
            <a:off x="421200" y="1080000"/>
            <a:ext cx="822960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 smtClean="0">
                <a:solidFill>
                  <a:srgbClr val="002B78"/>
                </a:solidFill>
                <a:latin typeface="+mn-lt"/>
              </a:rPr>
              <a:t>Разбиение деятельности</a:t>
            </a:r>
            <a:endParaRPr lang="ru-RU" sz="2400" b="1" dirty="0">
              <a:solidFill>
                <a:srgbClr val="002B78"/>
              </a:solidFill>
              <a:latin typeface="+mn-lt"/>
            </a:endParaRPr>
          </a:p>
        </p:txBody>
      </p:sp>
      <p:sp>
        <p:nvSpPr>
          <p:cNvPr id="21" name="Rectangle 5"/>
          <p:cNvSpPr txBox="1">
            <a:spLocks/>
          </p:cNvSpPr>
          <p:nvPr/>
        </p:nvSpPr>
        <p:spPr>
          <a:xfrm>
            <a:off x="4320000" y="1800000"/>
            <a:ext cx="4349338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0" hangingPunct="0"/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Разбиение деятельности (</a:t>
            </a:r>
            <a:r>
              <a:rPr lang="en-US" sz="1600" b="1" kern="0" dirty="0" smtClean="0">
                <a:solidFill>
                  <a:srgbClr val="002B78"/>
                </a:solidFill>
                <a:latin typeface="+mn-lt"/>
              </a:rPr>
              <a:t>activity partition</a:t>
            </a:r>
            <a:r>
              <a:rPr lang="ru-RU" sz="1600" b="1" kern="0" dirty="0" smtClean="0">
                <a:solidFill>
                  <a:srgbClr val="002B78"/>
                </a:solidFill>
                <a:latin typeface="+mn-lt"/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  <a:latin typeface="+mn-lt"/>
              </a:rPr>
              <a:t> – 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элемент модели, предназначенный для группировки действий, которые относятся к одной деятельности и имеют некоторую общую характеристику</a:t>
            </a:r>
          </a:p>
          <a:p>
            <a:pPr algn="just" eaLnBrk="0" hangingPunct="0"/>
            <a:endParaRPr lang="ru-RU" sz="1600" kern="0" dirty="0" smtClean="0">
              <a:solidFill>
                <a:srgbClr val="002B78"/>
              </a:solidFill>
              <a:latin typeface="+mn-lt"/>
            </a:endParaRPr>
          </a:p>
          <a:p>
            <a:pPr algn="just" eaLnBrk="0" hangingPunct="0"/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На практике при моделировании бизнес-процессов разбиение наиболее часто соответствует организационным единицам</a:t>
            </a:r>
          </a:p>
          <a:p>
            <a:pPr algn="just" eaLnBrk="0" hangingPunct="0"/>
            <a:endParaRPr lang="ru-RU" sz="1600" kern="0" dirty="0" smtClean="0">
              <a:solidFill>
                <a:srgbClr val="002B78"/>
              </a:solidFill>
              <a:latin typeface="+mn-lt"/>
            </a:endParaRPr>
          </a:p>
          <a:p>
            <a:pPr algn="just" eaLnBrk="0" hangingPunct="0"/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Такой вариант представления диаграмм деятельности называют разбиением с использованием нотации дорожки (</a:t>
            </a:r>
            <a:r>
              <a:rPr lang="en-US" sz="1600" kern="0" dirty="0" err="1" smtClean="0">
                <a:solidFill>
                  <a:srgbClr val="002B78"/>
                </a:solidFill>
                <a:latin typeface="+mn-lt"/>
              </a:rPr>
              <a:t>swimlanes</a:t>
            </a:r>
            <a:r>
              <a:rPr lang="ru-RU" sz="1600" kern="0" dirty="0" smtClean="0">
                <a:solidFill>
                  <a:srgbClr val="002B78"/>
                </a:solidFill>
                <a:latin typeface="+mn-lt"/>
              </a:rPr>
              <a:t>).</a:t>
            </a:r>
          </a:p>
        </p:txBody>
      </p:sp>
      <p:pic>
        <p:nvPicPr>
          <p:cNvPr id="23" name="Picture 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95300" y="1798955"/>
            <a:ext cx="3684587" cy="352425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9A5E8BF-EE0B-4EFD-B709-4BC4CD11EEF2}" type="slidenum">
              <a:rPr lang="ru-RU" smtClean="0"/>
              <a:pPr/>
              <a:t>19</a:t>
            </a:fld>
            <a:endParaRPr lang="ru-RU" dirty="0" smtClean="0"/>
          </a:p>
        </p:txBody>
      </p:sp>
      <p:sp>
        <p:nvSpPr>
          <p:cNvPr id="9" name="AutoShape 53"/>
          <p:cNvSpPr>
            <a:spLocks noChangeArrowheads="1"/>
          </p:cNvSpPr>
          <p:nvPr/>
        </p:nvSpPr>
        <p:spPr bwMode="auto">
          <a:xfrm>
            <a:off x="1919288" y="2368550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2"/>
                </a:solidFill>
              </a:rPr>
              <a:t>Примеры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10" name="Oval 54"/>
          <p:cNvSpPr>
            <a:spLocks noChangeArrowheads="1"/>
          </p:cNvSpPr>
          <p:nvPr/>
        </p:nvSpPr>
        <p:spPr bwMode="auto">
          <a:xfrm>
            <a:off x="2009775" y="2436813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4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1" name="AutoShape 55"/>
          <p:cNvSpPr>
            <a:spLocks noChangeArrowheads="1"/>
          </p:cNvSpPr>
          <p:nvPr/>
        </p:nvSpPr>
        <p:spPr bwMode="auto">
          <a:xfrm>
            <a:off x="1919288" y="1846263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002C78"/>
              </a:gs>
              <a:gs pos="100000">
                <a:srgbClr val="7EA6E8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Диаграмма </a:t>
            </a:r>
            <a:r>
              <a:rPr lang="ru-RU" dirty="0" err="1" smtClean="0">
                <a:solidFill>
                  <a:schemeClr val="bg1"/>
                </a:solidFill>
              </a:rPr>
              <a:t>бизнес-анализа</a:t>
            </a:r>
            <a:endParaRPr lang="ru-RU" dirty="0" smtClean="0">
              <a:solidFill>
                <a:schemeClr val="bg1"/>
              </a:solidFill>
            </a:endParaRPr>
          </a:p>
        </p:txBody>
      </p:sp>
      <p:sp>
        <p:nvSpPr>
          <p:cNvPr id="12" name="Oval 56"/>
          <p:cNvSpPr>
            <a:spLocks noChangeArrowheads="1"/>
          </p:cNvSpPr>
          <p:nvPr/>
        </p:nvSpPr>
        <p:spPr bwMode="auto">
          <a:xfrm>
            <a:off x="2009775" y="1914525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3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3" name="AutoShape 57"/>
          <p:cNvSpPr>
            <a:spLocks noChangeArrowheads="1"/>
          </p:cNvSpPr>
          <p:nvPr/>
        </p:nvSpPr>
        <p:spPr bwMode="auto">
          <a:xfrm>
            <a:off x="1919288" y="1323975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2"/>
                </a:solidFill>
              </a:rPr>
              <a:t>Элементы диаграммы деятельности</a:t>
            </a:r>
          </a:p>
        </p:txBody>
      </p:sp>
      <p:sp>
        <p:nvSpPr>
          <p:cNvPr id="14" name="Oval 58"/>
          <p:cNvSpPr>
            <a:spLocks noChangeArrowheads="1"/>
          </p:cNvSpPr>
          <p:nvPr/>
        </p:nvSpPr>
        <p:spPr bwMode="auto">
          <a:xfrm>
            <a:off x="2009775" y="1392238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2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5" name="AutoShape 59"/>
          <p:cNvSpPr>
            <a:spLocks noChangeArrowheads="1"/>
          </p:cNvSpPr>
          <p:nvPr/>
        </p:nvSpPr>
        <p:spPr bwMode="auto">
          <a:xfrm>
            <a:off x="1919288" y="801688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2"/>
                </a:solidFill>
              </a:rPr>
              <a:t>Диаграмма деятельности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16" name="Oval 60"/>
          <p:cNvSpPr>
            <a:spLocks noChangeArrowheads="1"/>
          </p:cNvSpPr>
          <p:nvPr/>
        </p:nvSpPr>
        <p:spPr bwMode="auto">
          <a:xfrm>
            <a:off x="2009775" y="869950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1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6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999" y="1800000"/>
            <a:ext cx="48672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Диаграмма </a:t>
            </a:r>
            <a:r>
              <a:rPr lang="ru-RU" dirty="0" err="1" smtClean="0"/>
              <a:t>бизнес-анализа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E8B2DF-DB3D-4FC6-B48B-86DBC6513EDA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  <p:sp>
        <p:nvSpPr>
          <p:cNvPr id="20" name="Title 1"/>
          <p:cNvSpPr txBox="1">
            <a:spLocks/>
          </p:cNvSpPr>
          <p:nvPr/>
        </p:nvSpPr>
        <p:spPr bwMode="auto">
          <a:xfrm>
            <a:off x="421200" y="1080000"/>
            <a:ext cx="822960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 smtClean="0">
                <a:solidFill>
                  <a:srgbClr val="002B78"/>
                </a:solidFill>
                <a:latin typeface="+mn-lt"/>
              </a:rPr>
              <a:t>Диаграмма </a:t>
            </a:r>
            <a:r>
              <a:rPr lang="ru-RU" sz="2400" b="1" dirty="0" err="1" smtClean="0">
                <a:solidFill>
                  <a:srgbClr val="002B78"/>
                </a:solidFill>
                <a:latin typeface="+mn-lt"/>
              </a:rPr>
              <a:t>бизнес-анализа</a:t>
            </a:r>
            <a:endParaRPr lang="ru-RU" sz="2400" b="1" dirty="0">
              <a:solidFill>
                <a:srgbClr val="002B78"/>
              </a:solidFill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07274" y="1800000"/>
            <a:ext cx="32620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kern="0" dirty="0" smtClean="0">
                <a:solidFill>
                  <a:srgbClr val="002B78"/>
                </a:solidFill>
              </a:rPr>
              <a:t>Диаграмма </a:t>
            </a:r>
            <a:r>
              <a:rPr lang="ru-RU" sz="1600" b="1" kern="0" dirty="0" err="1" smtClean="0">
                <a:solidFill>
                  <a:srgbClr val="002B78"/>
                </a:solidFill>
              </a:rPr>
              <a:t>бизнес-анализа</a:t>
            </a:r>
            <a:r>
              <a:rPr lang="ru-RU" sz="1600" b="1" kern="0" dirty="0" smtClean="0">
                <a:solidFill>
                  <a:srgbClr val="002B78"/>
                </a:solidFill>
              </a:rPr>
              <a:t> (</a:t>
            </a:r>
            <a:r>
              <a:rPr lang="en-US" sz="1600" b="1" kern="0" dirty="0" smtClean="0">
                <a:solidFill>
                  <a:srgbClr val="002B78"/>
                </a:solidFill>
              </a:rPr>
              <a:t>analysis diagram</a:t>
            </a:r>
            <a:r>
              <a:rPr lang="ru-RU" sz="1600" b="1" kern="0" dirty="0" smtClean="0">
                <a:solidFill>
                  <a:srgbClr val="002B78"/>
                </a:solidFill>
              </a:rPr>
              <a:t>)</a:t>
            </a:r>
            <a:r>
              <a:rPr lang="en-US" sz="1600" kern="0" dirty="0" smtClean="0">
                <a:solidFill>
                  <a:srgbClr val="002B78"/>
                </a:solidFill>
              </a:rPr>
              <a:t> – </a:t>
            </a:r>
            <a:r>
              <a:rPr lang="ru-RU" sz="1600" kern="0" dirty="0" smtClean="0">
                <a:solidFill>
                  <a:srgbClr val="002B78"/>
                </a:solidFill>
              </a:rPr>
              <a:t>это упрощенная диаграмма деятельности, описывающая высокоуровневые бизнес-процессы и общие модели поведения системы и ее элементов</a:t>
            </a:r>
          </a:p>
          <a:p>
            <a:pPr algn="just"/>
            <a:endParaRPr lang="ru-RU" sz="1600" kern="0" dirty="0" smtClean="0">
              <a:solidFill>
                <a:srgbClr val="002B78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2800" y="4140000"/>
            <a:ext cx="820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kern="0" dirty="0" smtClean="0">
                <a:solidFill>
                  <a:srgbClr val="002B78"/>
                </a:solidFill>
              </a:rPr>
              <a:t>Модель бизнес-процесса определяет:</a:t>
            </a:r>
          </a:p>
          <a:p>
            <a:pPr algn="just"/>
            <a:endParaRPr lang="ru-RU" sz="1600" kern="0" dirty="0" smtClean="0">
              <a:solidFill>
                <a:srgbClr val="002B78"/>
              </a:solidFill>
            </a:endParaRPr>
          </a:p>
          <a:p>
            <a:pPr marL="342900" indent="-342900" algn="just">
              <a:buAutoNum type="arabicPeriod"/>
            </a:pPr>
            <a:r>
              <a:rPr lang="ru-RU" sz="1600" kern="0" dirty="0" smtClean="0">
                <a:solidFill>
                  <a:srgbClr val="002B78"/>
                </a:solidFill>
              </a:rPr>
              <a:t>Цель процесса</a:t>
            </a:r>
          </a:p>
          <a:p>
            <a:pPr marL="342900" indent="-342900" algn="just">
              <a:buAutoNum type="arabicPeriod"/>
            </a:pPr>
            <a:r>
              <a:rPr lang="ru-RU" sz="1600" kern="0" dirty="0" smtClean="0">
                <a:solidFill>
                  <a:srgbClr val="002B78"/>
                </a:solidFill>
              </a:rPr>
              <a:t>Входы</a:t>
            </a:r>
          </a:p>
          <a:p>
            <a:pPr marL="342900" indent="-342900" algn="just">
              <a:buAutoNum type="arabicPeriod"/>
            </a:pPr>
            <a:r>
              <a:rPr lang="ru-RU" sz="1600" kern="0" dirty="0" smtClean="0">
                <a:solidFill>
                  <a:srgbClr val="002B78"/>
                </a:solidFill>
              </a:rPr>
              <a:t>Выходы</a:t>
            </a:r>
          </a:p>
          <a:p>
            <a:pPr marL="342900" indent="-342900" algn="just">
              <a:buAutoNum type="arabicPeriod"/>
            </a:pPr>
            <a:r>
              <a:rPr lang="ru-RU" sz="1600" kern="0" dirty="0" smtClean="0">
                <a:solidFill>
                  <a:srgbClr val="002B78"/>
                </a:solidFill>
              </a:rPr>
              <a:t>Используемые ресурсы</a:t>
            </a:r>
          </a:p>
          <a:p>
            <a:pPr marL="342900" indent="-342900" algn="just">
              <a:buAutoNum type="arabicPeriod"/>
            </a:pPr>
            <a:r>
              <a:rPr lang="ru-RU" sz="1600" kern="0" dirty="0" smtClean="0">
                <a:solidFill>
                  <a:srgbClr val="002B78"/>
                </a:solidFill>
              </a:rPr>
              <a:t>Действия, выполняемые в определенном порядке</a:t>
            </a:r>
          </a:p>
          <a:p>
            <a:pPr marL="342900" indent="-342900" algn="just">
              <a:buAutoNum type="arabicPeriod"/>
            </a:pPr>
            <a:r>
              <a:rPr lang="ru-RU" sz="1600" kern="0" dirty="0" smtClean="0">
                <a:solidFill>
                  <a:srgbClr val="002B78"/>
                </a:solidFill>
              </a:rPr>
              <a:t>Событие инициирующее бизнес-процесс</a:t>
            </a:r>
          </a:p>
          <a:p>
            <a:pPr algn="just"/>
            <a:endParaRPr lang="ru-RU" sz="1600" kern="0" dirty="0" smtClean="0">
              <a:solidFill>
                <a:srgbClr val="002B7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9A5E8BF-EE0B-4EFD-B709-4BC4CD11EEF2}" type="slidenum">
              <a:rPr lang="ru-RU" smtClean="0"/>
              <a:pPr/>
              <a:t>21</a:t>
            </a:fld>
            <a:endParaRPr lang="ru-RU" dirty="0" smtClean="0"/>
          </a:p>
        </p:txBody>
      </p:sp>
      <p:sp>
        <p:nvSpPr>
          <p:cNvPr id="9" name="AutoShape 53"/>
          <p:cNvSpPr>
            <a:spLocks noChangeArrowheads="1"/>
          </p:cNvSpPr>
          <p:nvPr/>
        </p:nvSpPr>
        <p:spPr bwMode="auto">
          <a:xfrm>
            <a:off x="1919288" y="2368550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002C78"/>
              </a:gs>
              <a:gs pos="100000">
                <a:srgbClr val="7EA6E8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Примеры</a:t>
            </a:r>
          </a:p>
        </p:txBody>
      </p:sp>
      <p:sp>
        <p:nvSpPr>
          <p:cNvPr id="10" name="Oval 54"/>
          <p:cNvSpPr>
            <a:spLocks noChangeArrowheads="1"/>
          </p:cNvSpPr>
          <p:nvPr/>
        </p:nvSpPr>
        <p:spPr bwMode="auto">
          <a:xfrm>
            <a:off x="2009775" y="2436813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4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1" name="AutoShape 55"/>
          <p:cNvSpPr>
            <a:spLocks noChangeArrowheads="1"/>
          </p:cNvSpPr>
          <p:nvPr/>
        </p:nvSpPr>
        <p:spPr bwMode="auto">
          <a:xfrm>
            <a:off x="1919288" y="1846263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2"/>
                </a:solidFill>
              </a:rPr>
              <a:t>Диаграмма </a:t>
            </a:r>
            <a:r>
              <a:rPr lang="ru-RU" dirty="0" err="1" smtClean="0">
                <a:solidFill>
                  <a:schemeClr val="bg2"/>
                </a:solidFill>
              </a:rPr>
              <a:t>бизнес-анализа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12" name="Oval 56"/>
          <p:cNvSpPr>
            <a:spLocks noChangeArrowheads="1"/>
          </p:cNvSpPr>
          <p:nvPr/>
        </p:nvSpPr>
        <p:spPr bwMode="auto">
          <a:xfrm>
            <a:off x="2009775" y="1914525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3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3" name="AutoShape 57"/>
          <p:cNvSpPr>
            <a:spLocks noChangeArrowheads="1"/>
          </p:cNvSpPr>
          <p:nvPr/>
        </p:nvSpPr>
        <p:spPr bwMode="auto">
          <a:xfrm>
            <a:off x="1919288" y="1323975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2"/>
                </a:solidFill>
              </a:rPr>
              <a:t>Элементы диаграммы деятельности</a:t>
            </a:r>
          </a:p>
        </p:txBody>
      </p:sp>
      <p:sp>
        <p:nvSpPr>
          <p:cNvPr id="14" name="Oval 58"/>
          <p:cNvSpPr>
            <a:spLocks noChangeArrowheads="1"/>
          </p:cNvSpPr>
          <p:nvPr/>
        </p:nvSpPr>
        <p:spPr bwMode="auto">
          <a:xfrm>
            <a:off x="2009775" y="1392238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2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  <p:sp>
        <p:nvSpPr>
          <p:cNvPr id="15" name="AutoShape 59"/>
          <p:cNvSpPr>
            <a:spLocks noChangeArrowheads="1"/>
          </p:cNvSpPr>
          <p:nvPr/>
        </p:nvSpPr>
        <p:spPr bwMode="auto">
          <a:xfrm>
            <a:off x="1919288" y="801688"/>
            <a:ext cx="6838950" cy="476250"/>
          </a:xfrm>
          <a:prstGeom prst="roundRect">
            <a:avLst>
              <a:gd name="adj" fmla="val 36727"/>
            </a:avLst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18900000" scaled="1"/>
          </a:gradFill>
          <a:ln w="31750" algn="ctr">
            <a:noFill/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68000" tIns="72000" rIns="72000" bIns="72000"/>
          <a:lstStyle/>
          <a:p>
            <a:pPr>
              <a:defRPr/>
            </a:pPr>
            <a:r>
              <a:rPr lang="ru-RU" dirty="0" smtClean="0">
                <a:solidFill>
                  <a:schemeClr val="bg2"/>
                </a:solidFill>
              </a:rPr>
              <a:t>Диаграмма деятельности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16" name="Oval 60"/>
          <p:cNvSpPr>
            <a:spLocks noChangeArrowheads="1"/>
          </p:cNvSpPr>
          <p:nvPr/>
        </p:nvSpPr>
        <p:spPr bwMode="auto">
          <a:xfrm>
            <a:off x="2009775" y="869950"/>
            <a:ext cx="325438" cy="339725"/>
          </a:xfrm>
          <a:prstGeom prst="ellipse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400">
                <a:solidFill>
                  <a:srgbClr val="002B78"/>
                </a:solidFill>
                <a:latin typeface="Arial Black" pitchFamily="34" charset="0"/>
              </a:rPr>
              <a:t>1</a:t>
            </a:r>
            <a:endParaRPr lang="ru-RU" sz="1400">
              <a:solidFill>
                <a:srgbClr val="002B78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E8B2DF-DB3D-4FC6-B48B-86DBC6513EDA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  <p:pic>
        <p:nvPicPr>
          <p:cNvPr id="13312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04607" y="759898"/>
            <a:ext cx="4934786" cy="5947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E8B2DF-DB3D-4FC6-B48B-86DBC6513EDA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750" y="1714500"/>
            <a:ext cx="78105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PM-SPI_SAL_PresentationTemplate">
  <a:themeElements>
    <a:clrScheme name="EPAM official current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3366FF"/>
      </a:hlink>
      <a:folHlink>
        <a:srgbClr val="99CC00"/>
      </a:folHlink>
    </a:clrScheme>
    <a:fontScheme name="EPAM official current 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B050"/>
        </a:solidFill>
        <a:ln>
          <a:headEnd type="none" w="med" len="med"/>
          <a:tailEnd type="none" w="med" len="med"/>
        </a:ln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algn="ctr" eaLnBrk="0" hangingPunct="0">
          <a:defRPr sz="1400" dirty="0" smtClean="0">
            <a:solidFill>
              <a:schemeClr val="tx1"/>
            </a:solidFill>
            <a:latin typeface="Tahoma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  <a:txDef>
      <a:spPr/>
      <a:bodyPr wrap="square">
        <a:spAutoFit/>
      </a:bodyPr>
      <a:lstStyle>
        <a:defPPr algn="just" eaLnBrk="0" hangingPunct="0">
          <a:spcBef>
            <a:spcPts val="0"/>
          </a:spcBef>
          <a:defRPr sz="1600" b="1" kern="0" dirty="0" smtClean="0">
            <a:solidFill>
              <a:srgbClr val="002B78"/>
            </a:solidFill>
            <a:latin typeface="+mn-lt"/>
          </a:defRPr>
        </a:defPPr>
      </a:lstStyle>
    </a:txDef>
  </a:objectDefaults>
  <a:extraClrSchemeLst>
    <a:extraClrScheme>
      <a:clrScheme name="EPAM official current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AM official current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AM official current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AM official current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AM official current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AM official current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3366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PAM official current template">
  <a:themeElements>
    <a:clrScheme name="1_EPAM official current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3366FF"/>
      </a:hlink>
      <a:folHlink>
        <a:srgbClr val="99CC00"/>
      </a:folHlink>
    </a:clrScheme>
    <a:fontScheme name="1_EPAM official current 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1_EPAM official current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PAM official current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PAM official current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PAM official current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PAM official current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PAM official current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PAM official current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PAM official current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PAM official current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PAM official current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PAM official current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PAM official current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PAM official current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3366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EPM-SPI_SAL_PresentationTemplate</Template>
  <TotalTime>8865</TotalTime>
  <Words>905</Words>
  <Application>Microsoft Office PowerPoint</Application>
  <PresentationFormat>Экран (4:3)</PresentationFormat>
  <Paragraphs>185</Paragraphs>
  <Slides>23</Slides>
  <Notes>10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Arial</vt:lpstr>
      <vt:lpstr>Arial Black</vt:lpstr>
      <vt:lpstr>Georgia</vt:lpstr>
      <vt:lpstr>Tahoma</vt:lpstr>
      <vt:lpstr>Verdana</vt:lpstr>
      <vt:lpstr>EPM-SPI_SAL_PresentationTemplate</vt:lpstr>
      <vt:lpstr>1_EPAM official current template</vt:lpstr>
      <vt:lpstr>Photo Editor Photo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Диаграмма деятельности</vt:lpstr>
      <vt:lpstr>Диаграмма деятельности</vt:lpstr>
      <vt:lpstr>Презентация PowerPoint</vt:lpstr>
      <vt:lpstr>Элементы диаграммы деятельности</vt:lpstr>
      <vt:lpstr>Элементы диаграммы деятельности</vt:lpstr>
      <vt:lpstr>Элементы диаграммы деятельности</vt:lpstr>
      <vt:lpstr>Элементы диаграммы деятельности</vt:lpstr>
      <vt:lpstr>Элементы диаграммы деятельности</vt:lpstr>
      <vt:lpstr>Элементы диаграммы деятельности</vt:lpstr>
      <vt:lpstr>Элементы диаграммы деятельности</vt:lpstr>
      <vt:lpstr>Элементы диаграммы деятельности</vt:lpstr>
      <vt:lpstr>Элементы диаграммы деятельности</vt:lpstr>
      <vt:lpstr>Элементы диаграммы деятельности</vt:lpstr>
      <vt:lpstr>Элементы диаграммы деятельности</vt:lpstr>
      <vt:lpstr>Презентация PowerPoint</vt:lpstr>
      <vt:lpstr>Диаграмма бизнес-анализа</vt:lpstr>
      <vt:lpstr>Презентация PowerPoint</vt:lpstr>
      <vt:lpstr>Примеры</vt:lpstr>
      <vt:lpstr>Примеры</vt:lpstr>
    </vt:vector>
  </TitlesOfParts>
  <Company>EPAM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Sergey Kalinov</dc:creator>
  <dc:description>EPAM official corporate template for PowerPoint presentations</dc:description>
  <cp:lastModifiedBy>Юрченко Алексей Михайлович</cp:lastModifiedBy>
  <cp:revision>542</cp:revision>
  <dcterms:created xsi:type="dcterms:W3CDTF">2008-03-05T10:56:56Z</dcterms:created>
  <dcterms:modified xsi:type="dcterms:W3CDTF">2024-10-30T13:13:37Z</dcterms:modified>
</cp:coreProperties>
</file>
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74" r:id="rId4"/>
    <p:sldId id="268" r:id="rId5"/>
    <p:sldId id="269" r:id="rId6"/>
    <p:sldId id="258" r:id="rId7"/>
    <p:sldId id="259" r:id="rId8"/>
    <p:sldId id="260" r:id="rId9"/>
    <p:sldId id="261" r:id="rId10"/>
    <p:sldId id="263" r:id="rId11"/>
    <p:sldId id="264" r:id="rId12"/>
    <p:sldId id="265" r:id="rId13"/>
    <p:sldId id="266" r:id="rId14"/>
    <p:sldId id="267" r:id="rId15"/>
    <p:sldId id="272" r:id="rId16"/>
    <p:sldId id="273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48A87A34-81AB-432B-8DAE-1953F412C126}" type="datetimeFigureOut">
              <a:rPr lang="en-US" dirty="0"/>
              <a:t>12/9/2024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12/9/2024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12/9/2024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12/9/2024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12/9/2024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12/9/2024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12/9/2024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12/9/2024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12/9/2024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12/9/2024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12/9/2024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12/9/2024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2647DD-AB2D-49E8-B67F-4040D6D0F24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smtClean="0">
                <a:latin typeface="Impact" panose="020B0806030902050204" pitchFamily="34" charset="0"/>
              </a:rPr>
              <a:t>ТЕМА </a:t>
            </a:r>
            <a:r>
              <a:rPr lang="ru-RU" smtClean="0">
                <a:latin typeface="Impact" panose="020B0806030902050204" pitchFamily="34" charset="0"/>
              </a:rPr>
              <a:t>27: </a:t>
            </a:r>
            <a:r>
              <a:rPr lang="ru-RU" dirty="0" smtClean="0">
                <a:latin typeface="Impact" panose="020B0806030902050204" pitchFamily="34" charset="0"/>
              </a:rPr>
              <a:t/>
            </a:r>
            <a:br>
              <a:rPr lang="ru-RU" dirty="0" smtClean="0">
                <a:latin typeface="Impact" panose="020B0806030902050204" pitchFamily="34" charset="0"/>
              </a:rPr>
            </a:br>
            <a:r>
              <a:rPr lang="ru-RU" dirty="0" smtClean="0">
                <a:latin typeface="Impact" panose="020B0806030902050204" pitchFamily="34" charset="0"/>
              </a:rPr>
              <a:t>Стратегия </a:t>
            </a:r>
            <a:r>
              <a:rPr lang="ru-RU" dirty="0">
                <a:latin typeface="Impact" panose="020B0806030902050204" pitchFamily="34" charset="0"/>
              </a:rPr>
              <a:t>развития </a:t>
            </a:r>
            <a:r>
              <a:rPr lang="ru-RU" dirty="0" smtClean="0">
                <a:latin typeface="Impact" panose="020B0806030902050204" pitchFamily="34" charset="0"/>
              </a:rPr>
              <a:t/>
            </a:r>
            <a:br>
              <a:rPr lang="ru-RU" dirty="0" smtClean="0">
                <a:latin typeface="Impact" panose="020B0806030902050204" pitchFamily="34" charset="0"/>
              </a:rPr>
            </a:br>
            <a:r>
              <a:rPr lang="ru-RU" dirty="0" smtClean="0">
                <a:latin typeface="Impact" panose="020B0806030902050204" pitchFamily="34" charset="0"/>
              </a:rPr>
              <a:t>бизнес-процессов</a:t>
            </a:r>
            <a:endParaRPr lang="ru-RU" dirty="0">
              <a:latin typeface="Impact" panose="020B0806030902050204" pitchFamily="34" charset="0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784B8A1-8D50-4CC8-9845-E36E5369C8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690924"/>
            <a:ext cx="9448800" cy="685800"/>
          </a:xfrm>
        </p:spPr>
        <p:txBody>
          <a:bodyPr>
            <a:normAutofit/>
          </a:bodyPr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539064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7045AF-50B4-4CE4-9EA4-58418228F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400" dirty="0">
                <a:latin typeface="Impact" panose="020B0806030902050204" pitchFamily="34" charset="0"/>
              </a:rPr>
              <a:t>определение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0C253C1-2B5C-4066-A2D9-881117A896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539750" algn="just">
              <a:buNone/>
            </a:pPr>
            <a:r>
              <a:rPr lang="ru-RU" sz="2800" dirty="0">
                <a:latin typeface="Impact" panose="020B0806030902050204" pitchFamily="34" charset="0"/>
              </a:rPr>
              <a:t>Бизнес-процесс — совокупность взаимосвязанных мероприятий или работ, направленных на создание определённого продукта или услуги для потребителей. </a:t>
            </a:r>
            <a:endParaRPr lang="ru-RU" sz="2800" dirty="0" smtClean="0">
              <a:latin typeface="Impact" panose="020B0806030902050204" pitchFamily="34" charset="0"/>
            </a:endParaRPr>
          </a:p>
          <a:p>
            <a:pPr marL="0" indent="539750" algn="just">
              <a:buNone/>
            </a:pPr>
            <a:endParaRPr lang="ru-RU" sz="2800" dirty="0">
              <a:latin typeface="Impact" panose="020B0806030902050204" pitchFamily="34" charset="0"/>
            </a:endParaRPr>
          </a:p>
          <a:p>
            <a:pPr marL="0" indent="539750" algn="just">
              <a:buNone/>
            </a:pPr>
            <a:r>
              <a:rPr lang="ru-RU" sz="2800" dirty="0" smtClean="0">
                <a:latin typeface="Impact" panose="020B0806030902050204" pitchFamily="34" charset="0"/>
              </a:rPr>
              <a:t>Бизнес-процесс </a:t>
            </a:r>
            <a:r>
              <a:rPr lang="ru-RU" sz="2800" dirty="0">
                <a:latin typeface="Impact" panose="020B0806030902050204" pitchFamily="34" charset="0"/>
              </a:rPr>
              <a:t>– это процесс обработки документа, для которого задана одна точка входа и несколько точек выхода и последовательность действий (шагов, этапов, функций), совершаемых в заданном порядке и в определенных условиях.</a:t>
            </a:r>
          </a:p>
        </p:txBody>
      </p:sp>
    </p:spTree>
    <p:extLst>
      <p:ext uri="{BB962C8B-B14F-4D97-AF65-F5344CB8AC3E}">
        <p14:creationId xmlns:p14="http://schemas.microsoft.com/office/powerpoint/2010/main" val="19763755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Выделяют три вида бизнес-процессов: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endParaRPr lang="ru-RU" dirty="0"/>
          </a:p>
          <a:p>
            <a:r>
              <a:rPr lang="ru-RU" b="1" dirty="0"/>
              <a:t>управляющие — бизнес-процессы, которые управляют функционированием системы, такие как корпоративное управление и стратегический менеджмент;</a:t>
            </a:r>
          </a:p>
          <a:p>
            <a:r>
              <a:rPr lang="ru-RU" b="1" dirty="0"/>
              <a:t>операционные — представляющие основную деятельность организации, создающие основной поток доходов (снабжение, производство, маркетинг, продажи или взыскание долгов);</a:t>
            </a:r>
          </a:p>
          <a:p>
            <a:r>
              <a:rPr lang="ru-RU" b="1" dirty="0"/>
              <a:t>поддерживающие — обслуживающие организацию (бухгалтерский учет, подбор персонала, техническая поддержка).</a:t>
            </a:r>
          </a:p>
          <a:p>
            <a:pPr marL="0" indent="0">
              <a:buNone/>
            </a:pPr>
            <a:r>
              <a:rPr lang="ru-RU" b="1" dirty="0"/>
              <a:t>Бизнес-процесс начинается со спроса потребителя и заканчивается его удовлетворением. Процессно-ориентированные организации стараются устранять барьеры и задержки, возникающие на стыке двух различных подразделений организации при выполнении одного бизнес-процесса.</a:t>
            </a:r>
          </a:p>
        </p:txBody>
      </p:sp>
    </p:spTree>
    <p:extLst>
      <p:ext uri="{BB962C8B-B14F-4D97-AF65-F5344CB8AC3E}">
        <p14:creationId xmlns:p14="http://schemas.microsoft.com/office/powerpoint/2010/main" val="1263081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232323"/>
          </a:xfrm>
        </p:spPr>
        <p:txBody>
          <a:bodyPr>
            <a:normAutofit fontScale="90000"/>
          </a:bodyPr>
          <a:lstStyle/>
          <a:p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86384" y="1499616"/>
            <a:ext cx="10820400" cy="4024125"/>
          </a:xfrm>
        </p:spPr>
        <p:txBody>
          <a:bodyPr/>
          <a:lstStyle/>
          <a:p>
            <a:pPr marL="0" indent="357188" algn="just">
              <a:buNone/>
            </a:pPr>
            <a:r>
              <a:rPr lang="ru-RU" sz="2400" b="1" dirty="0"/>
              <a:t>Требования к информационным технологиям повышаются, что способствует быстрому развитию систем,- в итоге ИТ становятся одним из важнейших инструментов управления, одновременно порождая новые бизнес-модели. </a:t>
            </a:r>
          </a:p>
          <a:p>
            <a:pPr marL="0" indent="357188" algn="just">
              <a:buNone/>
            </a:pPr>
            <a:r>
              <a:rPr lang="ru-RU" sz="2400" b="1" dirty="0" smtClean="0"/>
              <a:t>Необходимо </a:t>
            </a:r>
            <a:r>
              <a:rPr lang="ru-RU" sz="2400" b="1" dirty="0"/>
              <a:t>отметить, что каждое предприятие обладает информационной системой - независимо от уровня его автоматизации (различается уровень развития системы, архитектура и используемые технологии). При этом эффективность работы всей организации часто находится в прямой зависимости от эффективности функционирования ее ИСУ.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556332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090928" y="234021"/>
            <a:ext cx="8610600" cy="1293028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СВЯЗЬ СТРАТЕГИИ РАЗВИТИЯ ИНФОРМАЦИОННОЙ СИСТЕМЫ И СТРАТЕГИИ РАЗВИТИЯ БИЗНЕСА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83464" y="1993392"/>
            <a:ext cx="11713464" cy="4928616"/>
          </a:xfrm>
        </p:spPr>
        <p:txBody>
          <a:bodyPr>
            <a:normAutofit fontScale="70000" lnSpcReduction="20000"/>
          </a:bodyPr>
          <a:lstStyle/>
          <a:p>
            <a:pPr marL="0" indent="539750" algn="just">
              <a:buNone/>
            </a:pPr>
            <a:r>
              <a:rPr lang="ru-RU" sz="3200" b="1" dirty="0"/>
              <a:t>Управление процессом развития предприятия может осуществляться в двух взаимосвязанных формах: стратегии («законодательная» составляющая изменений) и программ - групп проектов или отдельных проектов (исполнительная составляющая). </a:t>
            </a:r>
          </a:p>
          <a:p>
            <a:pPr marL="0" indent="539750" algn="just">
              <a:buNone/>
            </a:pPr>
            <a:r>
              <a:rPr lang="ru-RU" sz="3200" b="1" dirty="0" smtClean="0"/>
              <a:t>Стратегия </a:t>
            </a:r>
            <a:r>
              <a:rPr lang="ru-RU" sz="3200" b="1" dirty="0"/>
              <a:t>развития бизнеса устанавливает основные цели, задачи и направления развития, методы и способы построения системы управления и функционирования, т. е. устанавливает правила игры и ее участников. </a:t>
            </a:r>
          </a:p>
          <a:p>
            <a:pPr marL="0" indent="539750" algn="just">
              <a:buNone/>
            </a:pPr>
            <a:r>
              <a:rPr lang="ru-RU" sz="3200" b="1" dirty="0" smtClean="0"/>
              <a:t>Программы </a:t>
            </a:r>
            <a:r>
              <a:rPr lang="ru-RU" sz="3200" b="1" dirty="0"/>
              <a:t>и проекты позволяют реализовывать все функции управления применительно к задачам развития </a:t>
            </a:r>
            <a:r>
              <a:rPr lang="ru-RU" sz="3200" b="1" dirty="0" smtClean="0"/>
              <a:t>предприятия.</a:t>
            </a:r>
          </a:p>
          <a:p>
            <a:pPr marL="0" indent="539750" algn="just">
              <a:buNone/>
            </a:pPr>
            <a:r>
              <a:rPr lang="ru-RU" sz="3200" b="1" dirty="0"/>
              <a:t>Разработка информационной системы управления предприятием и её стратегии развития следует рассматривать как одну из важнейших программ развития предприятия, состоящую из цепочки взаимосвязанных проектов, результаты каждого из которых необходимы для реализации последующих. </a:t>
            </a:r>
          </a:p>
          <a:p>
            <a:pPr marL="0" indent="539750" algn="just">
              <a:buNone/>
            </a:pPr>
            <a:r>
              <a:rPr lang="ru-RU" sz="3200" b="1" dirty="0" smtClean="0"/>
              <a:t>Стратегия </a:t>
            </a:r>
            <a:r>
              <a:rPr lang="ru-RU" sz="3200" b="1" dirty="0"/>
              <a:t>развития ИСУ должна давать ответ на четыре основных вопроса: «зачем?», «чего не хватает сейчас?», «как?» и «каковы ожидаемые результаты?». </a:t>
            </a:r>
          </a:p>
          <a:p>
            <a:pPr marL="0" indent="539750" algn="just">
              <a:buNone/>
            </a:pPr>
            <a:endParaRPr lang="ru-RU" sz="2600" b="1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819809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41FA68-1771-48E4-A478-F3E4675B12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400" dirty="0">
                <a:latin typeface="Impact" panose="020B0806030902050204" pitchFamily="34" charset="0"/>
              </a:rPr>
              <a:t>Стратегии развития бизнеса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D105E7C-2585-48E3-AC53-E6B80B2846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539750" algn="just">
              <a:buNone/>
            </a:pPr>
            <a:r>
              <a:rPr lang="ru-RU" sz="2400" dirty="0">
                <a:latin typeface="Impact" panose="020B0806030902050204" pitchFamily="34" charset="0"/>
              </a:rPr>
              <a:t>Управление процессом развития предприятия может осуществляться в двух взаимосвязанных формах: стратегии («законодательная» составляющая изменений) и программ - групп проектов или отдельных проектов (исполнительная составляющая).</a:t>
            </a:r>
          </a:p>
          <a:p>
            <a:pPr marL="0" indent="539750" algn="just">
              <a:buNone/>
            </a:pPr>
            <a:r>
              <a:rPr lang="ru-RU" sz="2400" dirty="0">
                <a:latin typeface="Impact" panose="020B0806030902050204" pitchFamily="34" charset="0"/>
              </a:rPr>
              <a:t>Стратегия развития бизнеса устанавливает основные цели, задачи и направления развития, методы и способы построения системы управления и функционирования, т. е. устанавливает правила игры и ее участников. Разработка информационной системы управления предприятием и её стратегии развития следует рассматривать как одну из важнейших программ развития предприятия, состоящую из цепочки взаимосвязанных проектов, результаты каждого из которых необходимы для реализации последующих. </a:t>
            </a:r>
          </a:p>
        </p:txBody>
      </p:sp>
    </p:spTree>
    <p:extLst>
      <p:ext uri="{BB962C8B-B14F-4D97-AF65-F5344CB8AC3E}">
        <p14:creationId xmlns:p14="http://schemas.microsoft.com/office/powerpoint/2010/main" val="35028220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BC00FDB6-D84F-4FF2-BD45-A9EA726E4D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72" y="960120"/>
            <a:ext cx="10820400" cy="402412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400" b="0" i="0" dirty="0" smtClean="0">
                <a:effectLst/>
                <a:latin typeface="Impact" panose="020B0806030902050204" pitchFamily="34" charset="0"/>
              </a:rPr>
              <a:t>Формирование интереса к стратегии развития информационной системы управления происходит, как правило, при определенных условиях. Другими словами, могут существовать следующие основания для разработки стратегии развития:</a:t>
            </a:r>
          </a:p>
          <a:p>
            <a:r>
              <a:rPr lang="ru-RU" sz="2400" b="0" i="0" dirty="0" smtClean="0">
                <a:effectLst/>
                <a:latin typeface="Impact" panose="020B0806030902050204" pitchFamily="34" charset="0"/>
              </a:rPr>
              <a:t> видение (успешно проведена разработка собственной стратегии бизнеса; руководство начало рассматривать ИСУ как инструмент управления; есть успехи других компаний в ИТ-проектах); </a:t>
            </a:r>
          </a:p>
          <a:p>
            <a:r>
              <a:rPr lang="ru-RU" sz="2400" b="0" i="0" dirty="0" smtClean="0">
                <a:effectLst/>
                <a:latin typeface="Impact" panose="020B0806030902050204" pitchFamily="34" charset="0"/>
              </a:rPr>
              <a:t>финансовые средства (ИТ-затраты становятся значимыми для бюджета; текущий уровень информационной системы становится тормозом развития бизнеса; планируются или уже сделаны крупные инвестиции в информатизацию);</a:t>
            </a:r>
          </a:p>
          <a:p>
            <a:r>
              <a:rPr lang="ru-RU" sz="2400" b="0" i="0" dirty="0" smtClean="0">
                <a:effectLst/>
                <a:latin typeface="Impact" panose="020B0806030902050204" pitchFamily="34" charset="0"/>
              </a:rPr>
              <a:t> полномочия (статус ИТ-менеджера повышен до уровня вице-президента или заместителя генерального директора; в функциональных (не ИТ) службах создаются подразделения, ответственные за развитие ресурсов ИСУ).</a:t>
            </a:r>
            <a:endParaRPr lang="ru-RU" sz="2400" dirty="0">
              <a:latin typeface="Impact" panose="020B08060309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74395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3DD1750-F1CC-46D6-B0F0-7167A555BF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7008" y="1362456"/>
            <a:ext cx="10820400" cy="40241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b="0" i="0" dirty="0">
                <a:effectLst/>
                <a:latin typeface="Impact" panose="020B0806030902050204" pitchFamily="34" charset="0"/>
              </a:rPr>
              <a:t>Таким образом, основными базисами разработки стратегии развития управленческой информационной системы следует считать:</a:t>
            </a:r>
          </a:p>
          <a:p>
            <a:r>
              <a:rPr lang="ru-RU" sz="2400" b="0" i="0" dirty="0">
                <a:effectLst/>
                <a:latin typeface="Impact" panose="020B0806030902050204" pitchFamily="34" charset="0"/>
              </a:rPr>
              <a:t>отправную точку - существующее положение (как в сфере управления и функционирования, так и в сфере использования ИТ);</a:t>
            </a:r>
          </a:p>
          <a:p>
            <a:r>
              <a:rPr lang="ru-RU" sz="2400" b="0" i="0" dirty="0">
                <a:effectLst/>
                <a:latin typeface="Impact" panose="020B0806030902050204" pitchFamily="34" charset="0"/>
              </a:rPr>
              <a:t>желаемые горизонты - стратегию бизнеса (стратегию развития предприятия);</a:t>
            </a:r>
          </a:p>
          <a:p>
            <a:r>
              <a:rPr lang="ru-RU" sz="2400" b="0" i="0" dirty="0">
                <a:effectLst/>
                <a:latin typeface="Impact" panose="020B0806030902050204" pitchFamily="34" charset="0"/>
              </a:rPr>
              <a:t>доступные инструменты (для движения от отправной точки до желаемых горизонтов) - общие отраслевые и технологические тенденции использования ИТ.</a:t>
            </a:r>
            <a:endParaRPr lang="ru-RU" sz="2400" dirty="0">
              <a:latin typeface="Impact" panose="020B08060309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72378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4B0706-13AD-4631-BA8F-8E0EE6001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2228" y="25586"/>
            <a:ext cx="10085832" cy="1293028"/>
          </a:xfrm>
        </p:spPr>
        <p:txBody>
          <a:bodyPr>
            <a:normAutofit/>
          </a:bodyPr>
          <a:lstStyle/>
          <a:p>
            <a:pPr algn="ctr"/>
            <a:r>
              <a:rPr lang="ru-RU" sz="4400" dirty="0">
                <a:latin typeface="Impact" panose="020B0806030902050204" pitchFamily="34" charset="0"/>
              </a:rPr>
              <a:t>Описание бизнес-процессов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DCFC6C7A-AA7B-489E-87ED-9AEB2CBE31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14244"/>
          <a:stretch/>
        </p:blipFill>
        <p:spPr>
          <a:xfrm>
            <a:off x="1587748" y="1318614"/>
            <a:ext cx="8543804" cy="5487971"/>
          </a:xfrm>
        </p:spPr>
      </p:pic>
    </p:spTree>
    <p:extLst>
      <p:ext uri="{BB962C8B-B14F-4D97-AF65-F5344CB8AC3E}">
        <p14:creationId xmlns:p14="http://schemas.microsoft.com/office/powerpoint/2010/main" val="15127392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4CC027-DC15-4EE8-8F17-2E7D600BB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41103" y="0"/>
            <a:ext cx="6317625" cy="1600200"/>
          </a:xfrm>
        </p:spPr>
        <p:txBody>
          <a:bodyPr>
            <a:noAutofit/>
          </a:bodyPr>
          <a:lstStyle/>
          <a:p>
            <a:r>
              <a:rPr lang="ru-RU" sz="4400" b="0" i="0" dirty="0">
                <a:effectLst/>
                <a:latin typeface="Impact" panose="020B0806030902050204" pitchFamily="34" charset="0"/>
              </a:rPr>
              <a:t>Критерии оценивания предметной области</a:t>
            </a:r>
            <a:endParaRPr lang="ru-RU" sz="4400" dirty="0">
              <a:latin typeface="Impact" panose="020B080603090205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5F14487-7464-498C-9A1D-0CF0089FF4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741103" y="1789291"/>
            <a:ext cx="6411481" cy="3494715"/>
          </a:xfrm>
        </p:spPr>
        <p:txBody>
          <a:bodyPr>
            <a:noAutofit/>
          </a:bodyPr>
          <a:lstStyle/>
          <a:p>
            <a:pPr marL="0" indent="0" algn="l">
              <a:buNone/>
            </a:pPr>
            <a:r>
              <a:rPr lang="ru-RU" sz="2000" b="0" i="0" dirty="0" smtClean="0">
                <a:effectLst/>
                <a:latin typeface="Impact" panose="020B0806030902050204" pitchFamily="34" charset="0"/>
              </a:rPr>
              <a:t>Одним из самых распространенных методов, оценивающих в комплексе состояние компании, является </a:t>
            </a:r>
            <a:r>
              <a:rPr lang="ru-RU" sz="2000" b="0" i="0" dirty="0" err="1" smtClean="0">
                <a:effectLst/>
                <a:latin typeface="Impact" panose="020B0806030902050204" pitchFamily="34" charset="0"/>
              </a:rPr>
              <a:t>SWOTанализ</a:t>
            </a:r>
            <a:r>
              <a:rPr lang="ru-RU" sz="2000" b="0" i="0" dirty="0" smtClean="0">
                <a:effectLst/>
                <a:latin typeface="Impact" panose="020B0806030902050204" pitchFamily="34" charset="0"/>
              </a:rPr>
              <a:t>. SWOT-анализ является необходимым элементом исследований, обязательным предварительным этапом при составлении любого уровня стратегических и маркетинговых планов. Данные, полученные в результате ситуационного анализа, служат базисными элементами при разработке стратегических целей и задач компании.</a:t>
            </a:r>
          </a:p>
          <a:p>
            <a:pPr marL="0" indent="0" algn="l">
              <a:buNone/>
            </a:pPr>
            <a:r>
              <a:rPr lang="ru-RU" sz="2000" b="0" i="0" dirty="0" smtClean="0">
                <a:effectLst/>
                <a:latin typeface="Impact" panose="020B0806030902050204" pitchFamily="34" charset="0"/>
              </a:rPr>
              <a:t>Аббревиатура SWOT означает:</a:t>
            </a:r>
          </a:p>
          <a:p>
            <a:pPr algn="l"/>
            <a:r>
              <a:rPr lang="ru-RU" sz="2000" b="0" i="0" dirty="0" smtClean="0">
                <a:effectLst/>
                <a:latin typeface="Impact" panose="020B0806030902050204" pitchFamily="34" charset="0"/>
              </a:rPr>
              <a:t>· </a:t>
            </a:r>
            <a:r>
              <a:rPr lang="ru-RU" sz="2000" b="0" i="0" dirty="0" err="1" smtClean="0">
                <a:effectLst/>
                <a:latin typeface="Impact" panose="020B0806030902050204" pitchFamily="34" charset="0"/>
              </a:rPr>
              <a:t>Strengths</a:t>
            </a:r>
            <a:r>
              <a:rPr lang="ru-RU" sz="2000" b="0" i="0" dirty="0" smtClean="0">
                <a:effectLst/>
                <a:latin typeface="Impact" panose="020B0806030902050204" pitchFamily="34" charset="0"/>
              </a:rPr>
              <a:t> – сильные стороны</a:t>
            </a:r>
          </a:p>
          <a:p>
            <a:pPr algn="l"/>
            <a:r>
              <a:rPr lang="ru-RU" sz="2000" b="0" i="0" dirty="0" smtClean="0">
                <a:effectLst/>
                <a:latin typeface="Impact" panose="020B0806030902050204" pitchFamily="34" charset="0"/>
              </a:rPr>
              <a:t>· </a:t>
            </a:r>
            <a:r>
              <a:rPr lang="ru-RU" sz="2000" b="0" i="0" dirty="0" err="1" smtClean="0">
                <a:effectLst/>
                <a:latin typeface="Impact" panose="020B0806030902050204" pitchFamily="34" charset="0"/>
              </a:rPr>
              <a:t>Weakness</a:t>
            </a:r>
            <a:r>
              <a:rPr lang="ru-RU" sz="2000" b="0" i="0" dirty="0" smtClean="0">
                <a:effectLst/>
                <a:latin typeface="Impact" panose="020B0806030902050204" pitchFamily="34" charset="0"/>
              </a:rPr>
              <a:t> – слабые стороны</a:t>
            </a:r>
          </a:p>
          <a:p>
            <a:pPr algn="l"/>
            <a:r>
              <a:rPr lang="ru-RU" sz="2000" b="0" i="0" dirty="0" smtClean="0">
                <a:effectLst/>
                <a:latin typeface="Impact" panose="020B0806030902050204" pitchFamily="34" charset="0"/>
              </a:rPr>
              <a:t>· </a:t>
            </a:r>
            <a:r>
              <a:rPr lang="ru-RU" sz="2000" b="0" i="0" dirty="0" err="1" smtClean="0">
                <a:effectLst/>
                <a:latin typeface="Impact" panose="020B0806030902050204" pitchFamily="34" charset="0"/>
              </a:rPr>
              <a:t>Opportunities</a:t>
            </a:r>
            <a:r>
              <a:rPr lang="ru-RU" sz="2000" b="0" i="0" dirty="0" smtClean="0">
                <a:effectLst/>
                <a:latin typeface="Impact" panose="020B0806030902050204" pitchFamily="34" charset="0"/>
              </a:rPr>
              <a:t> – возможности</a:t>
            </a:r>
          </a:p>
          <a:p>
            <a:pPr algn="l"/>
            <a:r>
              <a:rPr lang="ru-RU" sz="2000" b="0" i="0" dirty="0" smtClean="0">
                <a:effectLst/>
                <a:latin typeface="Impact" panose="020B0806030902050204" pitchFamily="34" charset="0"/>
              </a:rPr>
              <a:t>· </a:t>
            </a:r>
            <a:r>
              <a:rPr lang="ru-RU" sz="2000" b="0" i="0" dirty="0" err="1" smtClean="0">
                <a:effectLst/>
                <a:latin typeface="Impact" panose="020B0806030902050204" pitchFamily="34" charset="0"/>
              </a:rPr>
              <a:t>Threats</a:t>
            </a:r>
            <a:r>
              <a:rPr lang="ru-RU" sz="2000" b="0" i="0" dirty="0" smtClean="0">
                <a:effectLst/>
                <a:latin typeface="Impact" panose="020B0806030902050204" pitchFamily="34" charset="0"/>
              </a:rPr>
              <a:t> – угрозы</a:t>
            </a:r>
          </a:p>
          <a:p>
            <a:endParaRPr lang="ru-RU" sz="1800" b="1" dirty="0">
              <a:latin typeface="Impact" panose="020B0806030902050204" pitchFamily="34" charset="0"/>
            </a:endParaRPr>
          </a:p>
        </p:txBody>
      </p:sp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81746664-120F-46EF-AADA-F7A512B3FE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65376"/>
            <a:ext cx="5741103" cy="3811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12029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8EDA48E2-A4B0-417F-B39E-26F2CFC7FF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0664" y="1508760"/>
            <a:ext cx="10820400" cy="4024125"/>
          </a:xfrm>
        </p:spPr>
        <p:txBody>
          <a:bodyPr>
            <a:normAutofit/>
          </a:bodyPr>
          <a:lstStyle/>
          <a:p>
            <a:pPr marL="0" indent="539750" algn="just">
              <a:buNone/>
            </a:pPr>
            <a:r>
              <a:rPr lang="ru-RU" sz="2800" b="0" i="0" dirty="0">
                <a:effectLst/>
                <a:latin typeface="Impact" panose="020B0806030902050204" pitchFamily="34" charset="0"/>
              </a:rPr>
              <a:t>SWOT анализ – это анализ сильных и слабых сторон организации, а также возможностей и угроз со стороны внешней окружающей среды. По результатам ситуационного анализа можно оценить, обладает ли предметная область внутренними силами и ресурсами, чтобы реализовать имеющиеся возможности и противостоять угрозам, и какие внутренние недостатки требуют скорейшего устранения.</a:t>
            </a:r>
            <a:endParaRPr lang="ru-RU" sz="2800" dirty="0">
              <a:latin typeface="Impact" panose="020B08060309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97946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AF49B1-2C2D-4D71-B140-2DE2B668C7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4400" dirty="0">
                <a:latin typeface="Impact" panose="020B0806030902050204" pitchFamily="34" charset="0"/>
              </a:rPr>
              <a:t>методы определения стратегии развития бизнес-процессов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D26C8D1-8EEC-4D5D-977C-C0995EC202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3615" y="2194560"/>
            <a:ext cx="11568418" cy="4374020"/>
          </a:xfrm>
        </p:spPr>
        <p:txBody>
          <a:bodyPr>
            <a:noAutofit/>
          </a:bodyPr>
          <a:lstStyle/>
          <a:p>
            <a:pPr marL="0" indent="357188">
              <a:buNone/>
            </a:pPr>
            <a:r>
              <a:rPr lang="ru-RU" sz="1800" b="0" i="0" dirty="0">
                <a:effectLst/>
                <a:latin typeface="Impact" panose="020B0806030902050204" pitchFamily="34" charset="0"/>
              </a:rPr>
              <a:t>Заключительным этапом становится формулировка основных стратегических направлений с учетом их важности</a:t>
            </a:r>
          </a:p>
          <a:p>
            <a:pPr marL="342900" indent="-342900" algn="l">
              <a:buFont typeface="+mj-lt"/>
              <a:buAutoNum type="arabicPeriod"/>
            </a:pPr>
            <a:r>
              <a:rPr lang="ru-RU" sz="1800" b="0" i="0" dirty="0">
                <a:effectLst/>
                <a:latin typeface="Impact" panose="020B0806030902050204" pitchFamily="34" charset="0"/>
              </a:rPr>
              <a:t>Для осуществления базового варианта SWOT-анализа необходимо сначала выбрать основные параметры, влияющие на развитие ситуации и/или успешность организации на рынке. Приоритетом служат ключевые факторы успеха. Рассматриваем также основные возможности и угрозы, которые могут повлиять на компанию или рассматриваемую ситуацию.</a:t>
            </a:r>
          </a:p>
          <a:p>
            <a:pPr marL="342900" indent="-342900" algn="l">
              <a:buFont typeface="+mj-lt"/>
              <a:buAutoNum type="arabicPeriod"/>
            </a:pPr>
            <a:r>
              <a:rPr lang="ru-RU" sz="1800" b="0" i="0" dirty="0">
                <a:effectLst/>
                <a:latin typeface="Impact" panose="020B0806030902050204" pitchFamily="34" charset="0"/>
              </a:rPr>
              <a:t>Оцениваем представленность выделенных факторов в компании. Ориентиром для оценки работы компании по выделенным параметрам служат ожидания клиентов и достижения ближайших конкурентов и лидера рынка. </a:t>
            </a:r>
          </a:p>
          <a:p>
            <a:pPr marL="342900" indent="-342900" algn="l">
              <a:buFont typeface="+mj-lt"/>
              <a:buAutoNum type="arabicPeriod"/>
            </a:pPr>
            <a:r>
              <a:rPr lang="ru-RU" sz="1800" b="0" i="0" dirty="0">
                <a:effectLst/>
                <a:latin typeface="Impact" panose="020B0806030902050204" pitchFamily="34" charset="0"/>
              </a:rPr>
              <a:t>Проводим оценку возможностей и угроз по вероятности их наступления и степени влияния на рассматриваемую ситуацию. </a:t>
            </a:r>
          </a:p>
          <a:p>
            <a:pPr marL="342900" indent="-342900" algn="l">
              <a:buFont typeface="+mj-lt"/>
              <a:buAutoNum type="arabicPeriod"/>
            </a:pPr>
            <a:r>
              <a:rPr lang="ru-RU" sz="1800" b="0" i="0" dirty="0">
                <a:effectLst/>
                <a:latin typeface="Impact" panose="020B0806030902050204" pitchFamily="34" charset="0"/>
              </a:rPr>
              <a:t>Проводим анализ взаимовлияния возможностей и угроз окружающей среды и сильных и слабых сторон компании. Анализ регистрируем либо в описательной форме либо в таблице </a:t>
            </a:r>
            <a:r>
              <a:rPr lang="ru-RU" sz="1800" dirty="0">
                <a:latin typeface="Impact" panose="020B0806030902050204" pitchFamily="34" charset="0"/>
              </a:rPr>
              <a:t>.</a:t>
            </a:r>
            <a:endParaRPr lang="ru-RU" sz="1800" b="0" i="0" dirty="0">
              <a:effectLst/>
              <a:latin typeface="Impact" panose="020B0806030902050204" pitchFamily="34" charset="0"/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ru-RU" sz="1800" b="0" i="0" dirty="0">
                <a:effectLst/>
                <a:latin typeface="Impact" panose="020B0806030902050204" pitchFamily="34" charset="0"/>
              </a:rPr>
              <a:t>Ранжируем выявленные факторы по степени их важности и оформляем окончательные результаты анализа.</a:t>
            </a:r>
          </a:p>
          <a:p>
            <a:endParaRPr lang="ru-RU" sz="1800" dirty="0">
              <a:latin typeface="Impact" panose="020B08060309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35947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97DEB30-FE49-46BA-AAEF-EA39BB5B73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4400" dirty="0">
                <a:latin typeface="Impact" panose="020B0806030902050204" pitchFamily="34" charset="0"/>
              </a:rPr>
              <a:t>модернизация в информационных системах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551FB92-12B2-4A2F-9BBC-F3BE24201D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8114" y="2194560"/>
            <a:ext cx="11736198" cy="4024125"/>
          </a:xfrm>
        </p:spPr>
        <p:txBody>
          <a:bodyPr>
            <a:normAutofit fontScale="92500" lnSpcReduction="10000"/>
          </a:bodyPr>
          <a:lstStyle/>
          <a:p>
            <a:pPr marL="0" indent="539750" algn="just">
              <a:buNone/>
            </a:pPr>
            <a:r>
              <a:rPr lang="ru-RU" b="0" i="0" dirty="0">
                <a:effectLst/>
                <a:latin typeface="Impact" panose="020B0806030902050204" pitchFamily="34" charset="0"/>
              </a:rPr>
              <a:t>В течение периода эксплуатации системы происходят неизбежные изменения как вне организации (в том числе изменение рынка, контрагентов), так и внутри организации (к примеру, смещение бизнес-приоритетов в другую индустрию, на другой рынок и пр.). Растет объем обрабатываемой информации, объем файлов, снижается пропускная способность, оборудование выходит из строя и появляется повое — все эти факторы неизбежно влияют на актуальность самой системы и решаемых ей задач. В то время когда системы уже не способны с должной степенью эффективности решать задачи бизнеса, говорят об </a:t>
            </a:r>
            <a:r>
              <a:rPr lang="ru-RU" b="0" i="1" dirty="0">
                <a:effectLst/>
                <a:latin typeface="Impact" panose="020B0806030902050204" pitchFamily="34" charset="0"/>
              </a:rPr>
              <a:t>«унаследованных»</a:t>
            </a:r>
            <a:r>
              <a:rPr lang="ru-RU" b="0" i="0" dirty="0">
                <a:effectLst/>
                <a:latin typeface="Impact" panose="020B0806030902050204" pitchFamily="34" charset="0"/>
              </a:rPr>
              <a:t> системах.</a:t>
            </a:r>
          </a:p>
          <a:p>
            <a:pPr marL="0" indent="539750" algn="just">
              <a:buNone/>
            </a:pPr>
            <a:r>
              <a:rPr lang="ru-RU" b="0" i="0" dirty="0">
                <a:effectLst/>
                <a:latin typeface="Impact" panose="020B0806030902050204" pitchFamily="34" charset="0"/>
              </a:rPr>
              <a:t>Чаще всего модификация подобных приложений требует значительных затрат времени и финансовых средств, в то время как их замена может требовать даже реинжиниринга бизнес-процессов организации. В таком случае требуется доработка системы, для чего необходимо заново пройти все фазы жизненного цикла — от сбора и формирования требований до сопровождения и эксплуатации — и, соответственно, снова определять сроки, ресурсы и содержание. Результат подобной доработки будет уникальным, и потому можно говорить об отдельном проекте по модернизации. Этим проектом может заниматься как команда внедрения, так и абсолютно другие компании-подрядчики</a:t>
            </a:r>
            <a:endParaRPr lang="ru-RU" dirty="0">
              <a:latin typeface="Impact" panose="020B08060309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58247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28547DB2-C151-4CF8-A3F3-06B74392C9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539750" algn="just">
              <a:buNone/>
            </a:pPr>
            <a:r>
              <a:rPr lang="ru-RU" b="0" i="0" dirty="0">
                <a:effectLst/>
                <a:latin typeface="Impact" panose="020B0806030902050204" pitchFamily="34" charset="0"/>
              </a:rPr>
              <a:t>Модернизация системы подобного рода позволяет продлить срок ее эксплуатации, снизить совокупную стоимость владения (ТСО), расширить функциональные возможности, усовершенствовать программно-аппаратную платформу минимальными доступными средствами </a:t>
            </a:r>
            <a:r>
              <a:rPr lang="ru-RU" b="0" i="1" dirty="0">
                <a:effectLst/>
                <a:latin typeface="Impact" panose="020B0806030902050204" pitchFamily="34" charset="0"/>
              </a:rPr>
              <a:t>без</a:t>
            </a:r>
            <a:r>
              <a:rPr lang="ru-RU" b="0" i="0" dirty="0">
                <a:effectLst/>
                <a:latin typeface="Impact" panose="020B0806030902050204" pitchFamily="34" charset="0"/>
              </a:rPr>
              <a:t> остановки процесса эксплуатации системы. В ходе модернизации устраняются многие проблемы, возникавшие при эксплуатации. Однако необходимость реализации определенных доработок, число которых уже достигло критического значения, является лишь одной из возможных причин старта модернизации системы.</a:t>
            </a:r>
            <a:endParaRPr lang="ru-RU" b="1" dirty="0">
              <a:latin typeface="Impact" panose="020B08060309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83503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Составные части стратегии развития ИСУ</a:t>
            </a: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05256" y="1948044"/>
            <a:ext cx="10608061" cy="4617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8763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767584" y="87717"/>
            <a:ext cx="8610600" cy="1293028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49224" y="1536192"/>
            <a:ext cx="10820400" cy="4754880"/>
          </a:xfrm>
        </p:spPr>
        <p:txBody>
          <a:bodyPr>
            <a:normAutofit fontScale="92500" lnSpcReduction="20000"/>
          </a:bodyPr>
          <a:lstStyle/>
          <a:p>
            <a:pPr marL="0" indent="539750" algn="just">
              <a:buNone/>
            </a:pPr>
            <a:r>
              <a:rPr lang="ru-RU" sz="2400" b="1" dirty="0"/>
              <a:t>Комплексное использование этих базисов дает возможность получить три составные части стратегии развития информационной управленческой системы: </a:t>
            </a:r>
          </a:p>
          <a:p>
            <a:pPr algn="just"/>
            <a:r>
              <a:rPr lang="ru-RU" sz="2400" b="1" dirty="0"/>
              <a:t>позиционирование и роль ИТ на предприятии (приоритеты и направления их развития), согласованные со стратегией бизнеса (т. е. учтено, на какие бизнес-процессы влияет функционирование ИСУ); </a:t>
            </a:r>
          </a:p>
          <a:p>
            <a:pPr algn="just"/>
            <a:r>
              <a:rPr lang="ru-RU" sz="2400" b="1" dirty="0"/>
              <a:t>стратегический план достижения целей развития информационной системы, балансирующий ресурсы и проекты (внедрение бизнес-приложений, развитие инфраструктуры, управление жизненным циклом ИТ); </a:t>
            </a:r>
          </a:p>
          <a:p>
            <a:pPr algn="just"/>
            <a:r>
              <a:rPr lang="ru-RU" sz="2400" b="1" dirty="0"/>
              <a:t>техническая архитектура (аппаратные и программные платформы, общие службы и интеграция компонент, методологии и стандарты). </a:t>
            </a:r>
          </a:p>
          <a:p>
            <a:pPr marL="0" indent="0" algn="just">
              <a:buNone/>
            </a:pPr>
            <a:r>
              <a:rPr lang="ru-RU" sz="2400" b="1" dirty="0"/>
              <a:t>	</a:t>
            </a:r>
          </a:p>
          <a:p>
            <a:pPr marL="0" indent="0" algn="just">
              <a:buNone/>
            </a:pPr>
            <a:r>
              <a:rPr lang="ru-RU" sz="2400" b="1" dirty="0"/>
              <a:t>	Самое главное в процессе разработки стратегии развития управленческой ИС - это достижение соответствия между прогнозируемым/желаемым уровнем развития бизнеса и необходимым для этого уровнем развития ИТ. </a:t>
            </a:r>
          </a:p>
          <a:p>
            <a:pPr algn="just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406958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След самолета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{F810F123-8D5C-4026-9842-BB208AA1F6E0}tf04033937</Template>
  <TotalTime>503</TotalTime>
  <Words>1039</Words>
  <Application>Microsoft Office PowerPoint</Application>
  <PresentationFormat>Широкоэкранный</PresentationFormat>
  <Paragraphs>57</Paragraphs>
  <Slides>16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1" baseType="lpstr">
      <vt:lpstr>Arial</vt:lpstr>
      <vt:lpstr>Century Gothic</vt:lpstr>
      <vt:lpstr>Impact</vt:lpstr>
      <vt:lpstr>Times New Roman</vt:lpstr>
      <vt:lpstr>След самолета</vt:lpstr>
      <vt:lpstr>ТЕМА 27:  Стратегия развития  бизнес-процессов</vt:lpstr>
      <vt:lpstr>определение</vt:lpstr>
      <vt:lpstr>Выделяют три вида бизнес-процессов: </vt:lpstr>
      <vt:lpstr>Презентация PowerPoint</vt:lpstr>
      <vt:lpstr>СВЯЗЬ СТРАТЕГИИ РАЗВИТИЯ ИНФОРМАЦИОННОЙ СИСТЕМЫ И СТРАТЕГИИ РАЗВИТИЯ БИЗНЕСА</vt:lpstr>
      <vt:lpstr>Стратегии развития бизнеса</vt:lpstr>
      <vt:lpstr>Презентация PowerPoint</vt:lpstr>
      <vt:lpstr>Презентация PowerPoint</vt:lpstr>
      <vt:lpstr>Описание бизнес-процессов</vt:lpstr>
      <vt:lpstr>Критерии оценивания предметной области</vt:lpstr>
      <vt:lpstr>Презентация PowerPoint</vt:lpstr>
      <vt:lpstr>методы определения стратегии развития бизнес-процессов</vt:lpstr>
      <vt:lpstr>модернизация в информационных системах</vt:lpstr>
      <vt:lpstr>Презентация PowerPoint</vt:lpstr>
      <vt:lpstr>Составные части стратегии развития ИСУ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Стратегия развития бизнес-процессов</dc:title>
  <dc:creator>Макс</dc:creator>
  <cp:lastModifiedBy>Юрченко Алексей Михайлович</cp:lastModifiedBy>
  <cp:revision>11</cp:revision>
  <dcterms:created xsi:type="dcterms:W3CDTF">2022-04-27T18:39:53Z</dcterms:created>
  <dcterms:modified xsi:type="dcterms:W3CDTF">2024-12-09T06:44:07Z</dcterms:modified>
</cp:coreProperties>
</file>
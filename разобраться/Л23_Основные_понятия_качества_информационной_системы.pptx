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0" r:id="rId8"/>
    <p:sldId id="261" r:id="rId9"/>
    <p:sldId id="262" r:id="rId10"/>
    <p:sldId id="265" r:id="rId11"/>
    <p:sldId id="266" r:id="rId12"/>
    <p:sldId id="267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831328"/>
          </a:xfrm>
        </p:spPr>
        <p:txBody>
          <a:bodyPr>
            <a:normAutofit/>
          </a:bodyPr>
          <a:lstStyle/>
          <a:p>
            <a:r>
              <a:rPr lang="ru-RU" b="1"/>
              <a:t>ТЕМА </a:t>
            </a:r>
            <a:r>
              <a:rPr lang="ru-RU" b="1" smtClean="0"/>
              <a:t>23: </a:t>
            </a: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>Основные </a:t>
            </a:r>
            <a:r>
              <a:rPr lang="ru-RU" b="1" dirty="0"/>
              <a:t>понятия качества информационной системы.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6190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b="1" dirty="0" smtClean="0"/>
              <a:t>Учебные вопросы:</a:t>
            </a:r>
            <a:endParaRPr lang="ru-RU" sz="48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dirty="0" smtClean="0"/>
              <a:t>1</a:t>
            </a:r>
            <a:r>
              <a:rPr lang="ru-RU" sz="3600" dirty="0"/>
              <a:t>. </a:t>
            </a:r>
            <a:r>
              <a:rPr lang="ru-RU" sz="3600" b="1" dirty="0"/>
              <a:t>Качество</a:t>
            </a:r>
            <a:r>
              <a:rPr lang="ru-RU" sz="3600" dirty="0"/>
              <a:t> </a:t>
            </a:r>
            <a:r>
              <a:rPr lang="ru-RU" sz="3600" b="1" dirty="0"/>
              <a:t>информационной </a:t>
            </a:r>
            <a:r>
              <a:rPr lang="ru-RU" sz="3600" b="1" dirty="0" smtClean="0"/>
              <a:t>системы.</a:t>
            </a:r>
          </a:p>
          <a:p>
            <a:pPr marL="0" indent="0">
              <a:buNone/>
            </a:pPr>
            <a:r>
              <a:rPr lang="ru-RU" sz="3600" dirty="0"/>
              <a:t>2. </a:t>
            </a:r>
            <a:r>
              <a:rPr lang="ru-RU" sz="3600" b="1" dirty="0"/>
              <a:t>Качество программного </a:t>
            </a:r>
            <a:r>
              <a:rPr lang="ru-RU" sz="3600" b="1" dirty="0" smtClean="0"/>
              <a:t>обеспечения. </a:t>
            </a:r>
            <a:endParaRPr lang="ru-RU" sz="3600" b="1" dirty="0"/>
          </a:p>
        </p:txBody>
      </p:sp>
    </p:spTree>
    <p:extLst>
      <p:ext uri="{BB962C8B-B14F-4D97-AF65-F5344CB8AC3E}">
        <p14:creationId xmlns:p14="http://schemas.microsoft.com/office/powerpoint/2010/main" val="683658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1. Качество информационной системы.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2" y="1776550"/>
            <a:ext cx="9905999" cy="46852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800" dirty="0">
                <a:solidFill>
                  <a:srgbClr val="FF0000"/>
                </a:solidFill>
              </a:rPr>
              <a:t>Качество информационной системы </a:t>
            </a:r>
            <a:r>
              <a:rPr lang="ru-RU" sz="2800" dirty="0"/>
              <a:t>— это совокупность свойств системы, обусловливающих возможность ее использования для удовлетворения определенных в соответствии с ее назначением потребностей. Количественные характеристики этих свойств определяются показателями, которые необходимо контролировать и учитывать. Основными показателями качества информационных систем </a:t>
            </a:r>
            <a:r>
              <a:rPr lang="ru-RU" sz="2800" dirty="0" smtClean="0"/>
              <a:t>являются: </a:t>
            </a:r>
            <a:r>
              <a:rPr lang="ru-RU" sz="2800" dirty="0">
                <a:solidFill>
                  <a:srgbClr val="FF0000"/>
                </a:solidFill>
              </a:rPr>
              <a:t>надежность, достоверность, </a:t>
            </a:r>
            <a:r>
              <a:rPr lang="ru-RU" sz="2800" dirty="0" smtClean="0">
                <a:solidFill>
                  <a:srgbClr val="FF0000"/>
                </a:solidFill>
              </a:rPr>
              <a:t>безопасность, </a:t>
            </a:r>
            <a:r>
              <a:rPr lang="ru-RU" sz="2800" dirty="0">
                <a:solidFill>
                  <a:srgbClr val="FF0000"/>
                </a:solidFill>
              </a:rPr>
              <a:t>эффективность.</a:t>
            </a:r>
          </a:p>
        </p:txBody>
      </p:sp>
    </p:spTree>
    <p:extLst>
      <p:ext uri="{BB962C8B-B14F-4D97-AF65-F5344CB8AC3E}">
        <p14:creationId xmlns:p14="http://schemas.microsoft.com/office/powerpoint/2010/main" val="3732900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417802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Надежность. 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2" y="879566"/>
            <a:ext cx="9905999" cy="5978434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ru-RU" sz="3800" dirty="0" smtClean="0"/>
              <a:t>        </a:t>
            </a:r>
            <a:r>
              <a:rPr lang="ru-RU" sz="3800" dirty="0" smtClean="0">
                <a:solidFill>
                  <a:srgbClr val="FF0000"/>
                </a:solidFill>
              </a:rPr>
              <a:t>Надежность</a:t>
            </a:r>
            <a:r>
              <a:rPr lang="ru-RU" sz="3800" dirty="0" smtClean="0"/>
              <a:t> </a:t>
            </a:r>
            <a:r>
              <a:rPr lang="ru-RU" sz="3800" dirty="0"/>
              <a:t>- свойство системы сохранять во времени в установленных пределах значения всех параметров, характеризующих способность выполнять требуемые функции в заданных режимах и условиях применения.</a:t>
            </a:r>
          </a:p>
          <a:p>
            <a:pPr marL="0" indent="0" algn="just">
              <a:buNone/>
            </a:pPr>
            <a:r>
              <a:rPr lang="ru-RU" sz="3800" dirty="0" smtClean="0"/>
              <a:t>        </a:t>
            </a:r>
            <a:r>
              <a:rPr lang="ru-RU" sz="3800" dirty="0" smtClean="0">
                <a:solidFill>
                  <a:srgbClr val="FF0000"/>
                </a:solidFill>
              </a:rPr>
              <a:t>Надежность </a:t>
            </a:r>
            <a:r>
              <a:rPr lang="ru-RU" sz="3800" dirty="0"/>
              <a:t>- важнейшая характеристика качества любой системы, поэтому разработана специальная теория - теория надежности.</a:t>
            </a:r>
          </a:p>
          <a:p>
            <a:pPr marL="0" indent="0" algn="just">
              <a:buNone/>
            </a:pPr>
            <a:r>
              <a:rPr lang="ru-RU" sz="3800" dirty="0" smtClean="0"/>
              <a:t>        </a:t>
            </a:r>
            <a:r>
              <a:rPr lang="ru-RU" sz="3800" dirty="0" smtClean="0">
                <a:solidFill>
                  <a:srgbClr val="FF0000"/>
                </a:solidFill>
              </a:rPr>
              <a:t>Теория </a:t>
            </a:r>
            <a:r>
              <a:rPr lang="ru-RU" sz="3800" dirty="0">
                <a:solidFill>
                  <a:srgbClr val="FF0000"/>
                </a:solidFill>
              </a:rPr>
              <a:t>надежности </a:t>
            </a:r>
            <a:r>
              <a:rPr lang="ru-RU" sz="3800" dirty="0"/>
              <a:t>может быть определена как научная дисциплина, изучающая закономерности, которых следует придерживаться при разработке и эксплуатации систем для обеспечения оптимального уровня их надежности с минимальными затратами ресурсов.</a:t>
            </a:r>
          </a:p>
          <a:p>
            <a:pPr marL="0" indent="0" algn="just">
              <a:buNone/>
            </a:pPr>
            <a:r>
              <a:rPr lang="ru-RU" sz="3800" dirty="0" smtClean="0"/>
              <a:t>       </a:t>
            </a:r>
            <a:r>
              <a:rPr lang="ru-RU" sz="3800" dirty="0" smtClean="0">
                <a:solidFill>
                  <a:srgbClr val="FF0000"/>
                </a:solidFill>
              </a:rPr>
              <a:t>Надежность</a:t>
            </a:r>
            <a:r>
              <a:rPr lang="ru-RU" sz="3800" dirty="0" smtClean="0"/>
              <a:t> </a:t>
            </a:r>
            <a:r>
              <a:rPr lang="ru-RU" sz="3800" dirty="0"/>
              <a:t>- комплексное свойство системы; оно включает в себя более простые свойства, такие как безотказность, ремонтопригодность, долговечность и т д</a:t>
            </a:r>
            <a:r>
              <a:rPr lang="ru-RU" sz="3800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4418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922899"/>
          </a:xfrm>
        </p:spPr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Показатель надежности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2" y="1733006"/>
            <a:ext cx="9905999" cy="48332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</a:rPr>
              <a:t>Показатель надежности </a:t>
            </a:r>
            <a:r>
              <a:rPr lang="ru-RU" dirty="0"/>
              <a:t>— это количественная характеристика одного или нескольких свойств, определяющих надежность системы. В основе большинства показателей надежности лежат оценки наработки системы, то есть продолжительности или объема работы, выполненной системой.</a:t>
            </a:r>
          </a:p>
          <a:p>
            <a:pPr marL="0" indent="0">
              <a:buNone/>
            </a:pPr>
            <a:r>
              <a:rPr lang="ru-RU" dirty="0"/>
              <a:t>Показатель надежности, относящийся к одному из свойств надежности, называется единичным.</a:t>
            </a:r>
          </a:p>
          <a:p>
            <a:pPr marL="0" indent="0">
              <a:buNone/>
            </a:pPr>
            <a:r>
              <a:rPr lang="ru-RU" dirty="0"/>
              <a:t>Комплексный показатель надежности характеризует несколько свойств, определяющих надежность системы.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3658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2" y="339634"/>
            <a:ext cx="9905999" cy="633113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 smtClean="0"/>
              <a:t>           На </a:t>
            </a:r>
            <a:r>
              <a:rPr lang="ru-RU" dirty="0"/>
              <a:t>сегодняшний день разработано много конкретных практических способов </a:t>
            </a:r>
            <a:r>
              <a:rPr lang="ru-RU" dirty="0">
                <a:solidFill>
                  <a:srgbClr val="FF0000"/>
                </a:solidFill>
              </a:rPr>
              <a:t>повышения надежности информационных систем.</a:t>
            </a:r>
          </a:p>
          <a:p>
            <a:pPr marL="0" indent="0">
              <a:buNone/>
            </a:pPr>
            <a:r>
              <a:rPr lang="ru-RU" dirty="0" smtClean="0"/>
              <a:t>          Для </a:t>
            </a:r>
            <a:r>
              <a:rPr lang="ru-RU" dirty="0">
                <a:solidFill>
                  <a:srgbClr val="FF0000"/>
                </a:solidFill>
              </a:rPr>
              <a:t>обеспечения надежности технических средств </a:t>
            </a:r>
            <a:r>
              <a:rPr lang="ru-RU" dirty="0"/>
              <a:t>чаще всего выполняется:</a:t>
            </a:r>
          </a:p>
          <a:p>
            <a:pPr marL="0" indent="0">
              <a:buNone/>
            </a:pPr>
            <a:r>
              <a:rPr lang="ru-RU" dirty="0"/>
              <a:t>          1) резервирование (дублирование) технических средств (компьютеров и их компонентов, сегментов сетей и т. д.);</a:t>
            </a:r>
          </a:p>
          <a:p>
            <a:pPr marL="0" indent="0">
              <a:buNone/>
            </a:pPr>
            <a:r>
              <a:rPr lang="ru-RU" dirty="0"/>
              <a:t>          2) использование стандартных протоколов работы устройств ИС;</a:t>
            </a:r>
          </a:p>
          <a:p>
            <a:pPr marL="0" indent="0">
              <a:buNone/>
            </a:pPr>
            <a:r>
              <a:rPr lang="ru-RU" dirty="0"/>
              <a:t>          3) применение специализированных технических средств защиты информации.</a:t>
            </a:r>
          </a:p>
          <a:p>
            <a:pPr marL="0" indent="0">
              <a:buNone/>
            </a:pPr>
            <a:r>
              <a:rPr lang="ru-RU" dirty="0" smtClean="0"/>
              <a:t>          Для </a:t>
            </a:r>
            <a:r>
              <a:rPr lang="ru-RU" dirty="0">
                <a:solidFill>
                  <a:srgbClr val="FF0000"/>
                </a:solidFill>
              </a:rPr>
              <a:t>обеспечения надежности функционирования программного комплекса </a:t>
            </a:r>
            <a:r>
              <a:rPr lang="ru-RU" dirty="0"/>
              <a:t>ИС выполняется:</a:t>
            </a:r>
          </a:p>
          <a:p>
            <a:pPr marL="0" indent="0">
              <a:buNone/>
            </a:pPr>
            <a:r>
              <a:rPr lang="ru-RU" dirty="0"/>
              <a:t>          1) тщательное тестирование программ, опытное исполнение программы с целью обнаружения в ней ошибок (обязательное условие эффективного тестирования - по крайней мере один раз выполнить все разветвления программы в каждом из возможных направлений);</a:t>
            </a:r>
          </a:p>
          <a:p>
            <a:pPr marL="0" indent="0">
              <a:buNone/>
            </a:pPr>
            <a:r>
              <a:rPr lang="ru-RU" dirty="0" smtClean="0"/>
              <a:t>         2</a:t>
            </a:r>
            <a:r>
              <a:rPr lang="ru-RU" dirty="0"/>
              <a:t>) использование стандартных протоколов, интерфейсов, библиотек процедур, лицензионных программных продуктов;</a:t>
            </a:r>
          </a:p>
          <a:p>
            <a:pPr marL="0" indent="0">
              <a:buNone/>
            </a:pPr>
            <a:r>
              <a:rPr lang="ru-RU" dirty="0" smtClean="0"/>
              <a:t>         3</a:t>
            </a:r>
            <a:r>
              <a:rPr lang="ru-RU" dirty="0"/>
              <a:t>) использование структурных методов для обеспечения надежной работы программных комплексов (иерархическое построение программ, разбиение программ на сравнительно независимые модули и т. д.);</a:t>
            </a:r>
          </a:p>
          <a:p>
            <a:pPr marL="0" indent="0">
              <a:buNone/>
            </a:pPr>
            <a:r>
              <a:rPr lang="ru-RU" dirty="0" smtClean="0"/>
              <a:t>        4</a:t>
            </a:r>
            <a:r>
              <a:rPr lang="ru-RU" dirty="0"/>
              <a:t>) изоляция параллельно работающих процессов, в результате чего ошибки в работе одной программы не влияют на работу операционной системы и других программ.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3217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4800" dirty="0">
                <a:solidFill>
                  <a:srgbClr val="FF0000"/>
                </a:solidFill>
              </a:rPr>
              <a:t>Безотказность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>
                <a:solidFill>
                  <a:srgbClr val="FF0000"/>
                </a:solidFill>
              </a:rPr>
              <a:t>Безотказность</a:t>
            </a:r>
            <a:r>
              <a:rPr lang="ru-RU" sz="3200" dirty="0"/>
              <a:t> - свойство системы сохранять работоспособное состояние в течение некоторого времени или наработки (наработка - продолжительность или объем работы системы).</a:t>
            </a:r>
          </a:p>
        </p:txBody>
      </p:sp>
    </p:spTree>
    <p:extLst>
      <p:ext uri="{BB962C8B-B14F-4D97-AF65-F5344CB8AC3E}">
        <p14:creationId xmlns:p14="http://schemas.microsoft.com/office/powerpoint/2010/main" val="1909057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Ремонтопригодность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3200" dirty="0">
                <a:solidFill>
                  <a:srgbClr val="FF0000"/>
                </a:solidFill>
              </a:rPr>
              <a:t>Ремонтопригодность</a:t>
            </a:r>
            <a:r>
              <a:rPr lang="ru-RU" sz="3200" dirty="0"/>
              <a:t> - свойство системы, заключающееся в приспособленности к предупреждению и обнаружению причин возникновения отказов, повреждений и поддержанию, и восстановлению работоспособного состояния путем проведения технического обслуживания и ремонтов.</a:t>
            </a:r>
          </a:p>
        </p:txBody>
      </p:sp>
    </p:spTree>
    <p:extLst>
      <p:ext uri="{BB962C8B-B14F-4D97-AF65-F5344CB8AC3E}">
        <p14:creationId xmlns:p14="http://schemas.microsoft.com/office/powerpoint/2010/main" val="2918604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Долговечность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3200" dirty="0">
                <a:solidFill>
                  <a:srgbClr val="FF0000"/>
                </a:solidFill>
              </a:rPr>
              <a:t>Долговечность</a:t>
            </a:r>
            <a:r>
              <a:rPr lang="ru-RU" sz="3200" dirty="0"/>
              <a:t> - свойство системы сохранять при установленной системе технического обслуживания и ремонта работоспособное состояние до наступления предельного состояния, то есть такого момента, когда дальнейшее использование системы по назначению недопустимо или нецелесообразно.</a:t>
            </a:r>
          </a:p>
        </p:txBody>
      </p:sp>
    </p:spTree>
    <p:extLst>
      <p:ext uri="{BB962C8B-B14F-4D97-AF65-F5344CB8AC3E}">
        <p14:creationId xmlns:p14="http://schemas.microsoft.com/office/powerpoint/2010/main" val="3093887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261257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2" y="330926"/>
            <a:ext cx="9905999" cy="635725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800" dirty="0">
                <a:solidFill>
                  <a:srgbClr val="FF0000"/>
                </a:solidFill>
              </a:rPr>
              <a:t>Достоверность функционирования </a:t>
            </a:r>
            <a:r>
              <a:rPr lang="ru-RU" sz="2800" dirty="0"/>
              <a:t>— свойство системы, обусловливающее безошибочность производимых ею преобразований информации. Достоверность функционирования информационной системы полностью определяется и измеряется достоверностью ее результатной информации.</a:t>
            </a:r>
          </a:p>
          <a:p>
            <a:pPr marL="0" indent="0">
              <a:buNone/>
            </a:pPr>
            <a:r>
              <a:rPr lang="ru-RU" sz="2800" dirty="0">
                <a:solidFill>
                  <a:srgbClr val="FF0000"/>
                </a:solidFill>
              </a:rPr>
              <a:t>Достоверность информации </a:t>
            </a:r>
            <a:r>
              <a:rPr lang="ru-RU" sz="2800" dirty="0"/>
              <a:t>— это свойство информации отражать реально существующие объекты с необходимой точностью. Достоверность информации измеряется вероятностью того, что отражаемое информацией значение параметра отличается от истинного значения этого параметра в пределах необходимой точности.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6437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1413" y="148046"/>
            <a:ext cx="9905998" cy="1210491"/>
          </a:xfrm>
        </p:spPr>
        <p:txBody>
          <a:bodyPr/>
          <a:lstStyle/>
          <a:p>
            <a:pPr algn="ctr"/>
            <a:r>
              <a:rPr lang="ru-RU" b="1" dirty="0" smtClean="0">
                <a:solidFill>
                  <a:srgbClr val="FF0000"/>
                </a:solidFill>
              </a:rPr>
              <a:t>2. Качество программного обеспечения.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2" y="1175657"/>
            <a:ext cx="9905999" cy="52599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</a:rPr>
              <a:t>Качество программного обеспечения </a:t>
            </a:r>
            <a:r>
              <a:rPr lang="ru-RU" dirty="0"/>
              <a:t>– это совокупность свойств, характеризующих способность программного обеспечения удовлетворять потребностям пользователя в соответствии с предназначением. </a:t>
            </a:r>
            <a:br>
              <a:rPr lang="ru-RU" dirty="0"/>
            </a:br>
            <a:r>
              <a:rPr lang="ru-RU" dirty="0" smtClean="0">
                <a:solidFill>
                  <a:srgbClr val="FF0000"/>
                </a:solidFill>
              </a:rPr>
              <a:t>Управление </a:t>
            </a:r>
            <a:r>
              <a:rPr lang="ru-RU" dirty="0">
                <a:solidFill>
                  <a:srgbClr val="FF0000"/>
                </a:solidFill>
              </a:rPr>
              <a:t>качеством </a:t>
            </a:r>
            <a:r>
              <a:rPr lang="ru-RU" dirty="0"/>
              <a:t>– это система организационных, экономических, технологических и правовых мероприятий, осуществляемых для удовлетворения требований к качеству программного обеспечения в течение жизненного цикла.</a:t>
            </a:r>
            <a:br>
              <a:rPr lang="ru-RU" dirty="0"/>
            </a:br>
            <a:r>
              <a:rPr lang="ru-RU" dirty="0" smtClean="0">
                <a:solidFill>
                  <a:srgbClr val="FF0000"/>
                </a:solidFill>
              </a:rPr>
              <a:t>Свойства </a:t>
            </a:r>
            <a:r>
              <a:rPr lang="ru-RU" dirty="0">
                <a:solidFill>
                  <a:srgbClr val="FF0000"/>
                </a:solidFill>
              </a:rPr>
              <a:t>программы </a:t>
            </a:r>
            <a:r>
              <a:rPr lang="ru-RU" dirty="0"/>
              <a:t>– это особенности, объективно присущие программе, которые проявляются в ее жизненном цикле (разработке, применении, сопровождении).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4617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322217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2" y="557349"/>
            <a:ext cx="9905999" cy="523385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2600" dirty="0" smtClean="0">
                <a:solidFill>
                  <a:srgbClr val="FF0000"/>
                </a:solidFill>
              </a:rPr>
              <a:t>          Характеристика </a:t>
            </a:r>
            <a:r>
              <a:rPr lang="ru-RU" sz="2600" dirty="0">
                <a:solidFill>
                  <a:srgbClr val="FF0000"/>
                </a:solidFill>
              </a:rPr>
              <a:t>программы </a:t>
            </a:r>
            <a:r>
              <a:rPr lang="ru-RU" sz="2600" dirty="0"/>
              <a:t>– это понятие, отражающее проявление отдельного измеримого фактора присущего программе свойства. Иначе говоря, характеристика – это проявляемый и измеримый атрибут свойства.</a:t>
            </a:r>
            <a:br>
              <a:rPr lang="ru-RU" sz="2600" dirty="0"/>
            </a:br>
            <a:r>
              <a:rPr lang="ru-RU" sz="2600" dirty="0" smtClean="0"/>
              <a:t>          </a:t>
            </a:r>
            <a:r>
              <a:rPr lang="ru-RU" sz="2600" dirty="0" smtClean="0">
                <a:solidFill>
                  <a:srgbClr val="FF0000"/>
                </a:solidFill>
              </a:rPr>
              <a:t>Измерение </a:t>
            </a:r>
            <a:r>
              <a:rPr lang="ru-RU" sz="2600" dirty="0"/>
              <a:t>(оценка) одной или нескольких </a:t>
            </a:r>
            <a:r>
              <a:rPr lang="ru-RU" sz="2600" dirty="0">
                <a:solidFill>
                  <a:srgbClr val="FF0000"/>
                </a:solidFill>
              </a:rPr>
              <a:t>характеристик</a:t>
            </a:r>
            <a:r>
              <a:rPr lang="ru-RU" sz="2600" dirty="0"/>
              <a:t> программы дает представление о том, насколько программе присуще то или иное свойство.</a:t>
            </a:r>
            <a:br>
              <a:rPr lang="ru-RU" sz="2600" dirty="0"/>
            </a:br>
            <a:r>
              <a:rPr lang="ru-RU" sz="2600" dirty="0" smtClean="0"/>
              <a:t>          Каждому </a:t>
            </a:r>
            <a:r>
              <a:rPr lang="ru-RU" sz="2600" dirty="0"/>
              <a:t>свойству соответствует одна или несколько характеристик программного обеспечения.</a:t>
            </a:r>
            <a:br>
              <a:rPr lang="ru-RU" sz="2600" dirty="0"/>
            </a:br>
            <a:r>
              <a:rPr lang="ru-RU" sz="2600" dirty="0" smtClean="0"/>
              <a:t>         Для </a:t>
            </a:r>
            <a:r>
              <a:rPr lang="ru-RU" sz="2600" dirty="0"/>
              <a:t>решения задачи количественной оценки характеристик программного обеспечения необходимо наличие системы измерений и методов оценки.</a:t>
            </a:r>
            <a:br>
              <a:rPr lang="ru-RU" sz="2600" dirty="0"/>
            </a:b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3819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1413" y="156754"/>
            <a:ext cx="9905998" cy="1018903"/>
          </a:xfrm>
        </p:spPr>
        <p:txBody>
          <a:bodyPr/>
          <a:lstStyle/>
          <a:p>
            <a:r>
              <a:rPr lang="ru-RU" dirty="0" smtClean="0"/>
              <a:t>На </a:t>
            </a:r>
            <a:r>
              <a:rPr lang="ru-RU" dirty="0" smtClean="0">
                <a:solidFill>
                  <a:srgbClr val="FF0000"/>
                </a:solidFill>
              </a:rPr>
              <a:t>качество</a:t>
            </a:r>
            <a:r>
              <a:rPr lang="ru-RU" dirty="0" smtClean="0"/>
              <a:t> ПО влияют </a:t>
            </a:r>
            <a:r>
              <a:rPr lang="ru-RU" dirty="0" smtClean="0">
                <a:solidFill>
                  <a:srgbClr val="FF0000"/>
                </a:solidFill>
              </a:rPr>
              <a:t>показатели</a:t>
            </a:r>
            <a:r>
              <a:rPr lang="ru-RU" dirty="0" smtClean="0"/>
              <a:t>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2" y="966651"/>
            <a:ext cx="9905999" cy="556477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smtClean="0"/>
              <a:t>1. область </a:t>
            </a:r>
            <a:r>
              <a:rPr lang="ru-RU" dirty="0"/>
              <a:t>применения и назначение </a:t>
            </a:r>
            <a:r>
              <a:rPr lang="ru-RU" dirty="0" smtClean="0"/>
              <a:t>ПО;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2. тип решаемых функциональных задач;</a:t>
            </a:r>
          </a:p>
          <a:p>
            <a:pPr marL="0" indent="0">
              <a:buNone/>
            </a:pPr>
            <a:r>
              <a:rPr lang="ru-RU" dirty="0"/>
              <a:t>3. объем и сложность </a:t>
            </a:r>
            <a:r>
              <a:rPr lang="ru-RU" dirty="0" smtClean="0"/>
              <a:t>ПО;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4. необходимый состав и требуемые значения характеристик качества </a:t>
            </a:r>
            <a:r>
              <a:rPr lang="ru-RU" dirty="0" smtClean="0"/>
              <a:t>ПО </a:t>
            </a:r>
            <a:r>
              <a:rPr lang="ru-RU" dirty="0"/>
              <a:t>и величина допустимого ущерба из-за недостаточного их качества;</a:t>
            </a:r>
          </a:p>
          <a:p>
            <a:pPr marL="0" indent="0">
              <a:buNone/>
            </a:pPr>
            <a:r>
              <a:rPr lang="ru-RU" dirty="0"/>
              <a:t>5. степень связи решаемых задач с реальным масштабом времени или допустимой длительностью ожидания результатов решения задачи;</a:t>
            </a:r>
          </a:p>
          <a:p>
            <a:pPr marL="0" indent="0">
              <a:buNone/>
            </a:pPr>
            <a:r>
              <a:rPr lang="ru-RU" dirty="0"/>
              <a:t>6. прогнозируемые значения длительности эксплуатации и перспектива создания множества версий ПС;</a:t>
            </a:r>
          </a:p>
          <a:p>
            <a:pPr marL="0" indent="0">
              <a:buNone/>
            </a:pPr>
            <a:r>
              <a:rPr lang="ru-RU" dirty="0"/>
              <a:t>7. предполагаемый тираж производства и применения </a:t>
            </a:r>
            <a:r>
              <a:rPr lang="ru-RU" dirty="0" smtClean="0"/>
              <a:t>ПО;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8. степень необходимой документированности </a:t>
            </a:r>
            <a:r>
              <a:rPr lang="ru-RU" dirty="0" smtClean="0"/>
              <a:t>ПО.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9977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1413" y="148046"/>
            <a:ext cx="9905998" cy="243840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2" y="391886"/>
            <a:ext cx="9905999" cy="629629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2800" b="1" dirty="0" smtClean="0">
                <a:solidFill>
                  <a:srgbClr val="FF0000"/>
                </a:solidFill>
              </a:rPr>
              <a:t>        Качество ПО </a:t>
            </a:r>
            <a:r>
              <a:rPr lang="ru-RU" sz="2800" b="1" dirty="0"/>
              <a:t>отражается тремя группами показателей, характеризующими:</a:t>
            </a:r>
          </a:p>
          <a:p>
            <a:pPr marL="0" indent="0">
              <a:buNone/>
            </a:pPr>
            <a:r>
              <a:rPr lang="ru-RU" dirty="0"/>
              <a:t>• внутреннее качество, проявляющееся в процессе разработки;</a:t>
            </a:r>
          </a:p>
          <a:p>
            <a:pPr marL="0" indent="0">
              <a:buNone/>
            </a:pPr>
            <a:r>
              <a:rPr lang="ru-RU" dirty="0"/>
              <a:t>• внешнее качество, заданное требованиями заказчика;</a:t>
            </a:r>
          </a:p>
          <a:p>
            <a:pPr marL="0" indent="0">
              <a:buNone/>
            </a:pPr>
            <a:r>
              <a:rPr lang="ru-RU" dirty="0"/>
              <a:t>• качество при использовании в процессе нормальной эксплуатации и</a:t>
            </a:r>
          </a:p>
          <a:p>
            <a:pPr marL="0" indent="0">
              <a:buNone/>
            </a:pPr>
            <a:r>
              <a:rPr lang="ru-RU" dirty="0"/>
              <a:t>результативность достижения потребностей пользователей с учетом</a:t>
            </a:r>
          </a:p>
          <a:p>
            <a:pPr marL="0" indent="0">
              <a:buNone/>
            </a:pPr>
            <a:r>
              <a:rPr lang="ru-RU" dirty="0"/>
              <a:t>затрат.</a:t>
            </a:r>
          </a:p>
          <a:p>
            <a:pPr marL="0" indent="0">
              <a:buNone/>
            </a:pPr>
            <a:r>
              <a:rPr lang="ru-RU" dirty="0" smtClean="0"/>
              <a:t>        </a:t>
            </a:r>
            <a:r>
              <a:rPr lang="ru-RU" dirty="0" smtClean="0">
                <a:solidFill>
                  <a:srgbClr val="FF0000"/>
                </a:solidFill>
              </a:rPr>
              <a:t>Особым </a:t>
            </a:r>
            <a:r>
              <a:rPr lang="ru-RU" dirty="0">
                <a:solidFill>
                  <a:srgbClr val="FF0000"/>
                </a:solidFill>
              </a:rPr>
              <a:t>показателем качества </a:t>
            </a:r>
            <a:r>
              <a:rPr lang="ru-RU" dirty="0" smtClean="0">
                <a:solidFill>
                  <a:srgbClr val="FF0000"/>
                </a:solidFill>
              </a:rPr>
              <a:t>ПО </a:t>
            </a:r>
            <a:r>
              <a:rPr lang="ru-RU" dirty="0">
                <a:solidFill>
                  <a:srgbClr val="FF0000"/>
                </a:solidFill>
              </a:rPr>
              <a:t>является стоимость</a:t>
            </a:r>
            <a:r>
              <a:rPr lang="ru-RU" dirty="0"/>
              <a:t> (затраты на приобретение, создание, модификацию, эксплуатацию </a:t>
            </a:r>
            <a:r>
              <a:rPr lang="ru-RU" dirty="0" smtClean="0"/>
              <a:t>ПО).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 </a:t>
            </a:r>
            <a:r>
              <a:rPr lang="ru-RU" dirty="0" smtClean="0"/>
              <a:t>       Данный </a:t>
            </a:r>
            <a:r>
              <a:rPr lang="ru-RU" dirty="0"/>
              <a:t>показатель качества непосредственно влияет на все остальные показатели качества </a:t>
            </a:r>
            <a:r>
              <a:rPr lang="ru-RU" dirty="0" smtClean="0"/>
              <a:t>и определяет </a:t>
            </a:r>
            <a:r>
              <a:rPr lang="ru-RU" dirty="0"/>
              <a:t>выбор пользователя в пользу покупки или разработки </a:t>
            </a:r>
            <a:r>
              <a:rPr lang="ru-RU" dirty="0" smtClean="0"/>
              <a:t>ПО. </a:t>
            </a:r>
            <a:endParaRPr lang="ru-RU" dirty="0"/>
          </a:p>
          <a:p>
            <a:pPr marL="0" indent="0">
              <a:buNone/>
            </a:pPr>
            <a:r>
              <a:rPr lang="ru-RU" dirty="0" smtClean="0"/>
              <a:t>        При </a:t>
            </a:r>
            <a:r>
              <a:rPr lang="ru-RU" dirty="0"/>
              <a:t>этом потенциальный потребитель должен иметь механизм сравнения предлагаемых показателей качества и стоимости ПП для выбора поставщика или разработчика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50272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TM04033919[[fn=Контур]]</Template>
  <TotalTime>122</TotalTime>
  <Words>828</Words>
  <Application>Microsoft Office PowerPoint</Application>
  <PresentationFormat>Широкоэкранный</PresentationFormat>
  <Paragraphs>54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Tw Cen MT</vt:lpstr>
      <vt:lpstr>Контур</vt:lpstr>
      <vt:lpstr>ТЕМА 23:  Основные понятия качества информационной системы.</vt:lpstr>
      <vt:lpstr>Учебные вопросы:</vt:lpstr>
      <vt:lpstr>1. Качество информационной системы.</vt:lpstr>
      <vt:lpstr>Надежность.  </vt:lpstr>
      <vt:lpstr>Показатель надежности</vt:lpstr>
      <vt:lpstr>Презентация PowerPoint</vt:lpstr>
      <vt:lpstr>Безотказность</vt:lpstr>
      <vt:lpstr>Ремонтопригодность</vt:lpstr>
      <vt:lpstr>Долговечность</vt:lpstr>
      <vt:lpstr>Презентация PowerPoint</vt:lpstr>
      <vt:lpstr>2. Качество программного обеспечения.</vt:lpstr>
      <vt:lpstr>Презентация PowerPoint</vt:lpstr>
      <vt:lpstr>На качество ПО влияют показатели: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21:  Основные понятия качества информационной системы.</dc:title>
  <dc:creator>Юрченко Алексей Михайлович</dc:creator>
  <cp:lastModifiedBy>Юрченко Алексей Михайлович</cp:lastModifiedBy>
  <cp:revision>12</cp:revision>
  <dcterms:created xsi:type="dcterms:W3CDTF">2023-11-01T10:35:56Z</dcterms:created>
  <dcterms:modified xsi:type="dcterms:W3CDTF">2024-11-22T09:30:42Z</dcterms:modified>
</cp:coreProperties>
</file>